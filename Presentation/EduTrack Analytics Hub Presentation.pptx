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7"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6176"/>
  </p:normalViewPr>
  <p:slideViewPr>
    <p:cSldViewPr snapToGrid="0" snapToObjects="1">
      <p:cViewPr varScale="1">
        <p:scale>
          <a:sx n="82" d="100"/>
          <a:sy n="82" d="100"/>
        </p:scale>
        <p:origin x="11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397D21-BB44-1F47-B74F-4D477E90EC71}" type="datetimeFigureOut">
              <a:rPr lang="en-US" smtClean="0"/>
              <a:t>7/31/26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DED59D-4412-C240-995D-4DDE054AF9EA}" type="slidenum">
              <a:rPr lang="en-US" smtClean="0"/>
              <a:t>‹#›</a:t>
            </a:fld>
            <a:endParaRPr lang="en-US"/>
          </a:p>
        </p:txBody>
      </p:sp>
    </p:spTree>
    <p:extLst>
      <p:ext uri="{BB962C8B-B14F-4D97-AF65-F5344CB8AC3E}">
        <p14:creationId xmlns:p14="http://schemas.microsoft.com/office/powerpoint/2010/main" val="2584207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github.com/Tshepo-Letsoalo/edutrack-analytics-hub"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ZA" dirty="0">
                <a:effectLst/>
              </a:rPr>
              <a:t>Hello everyone, and welcome. </a:t>
            </a:r>
          </a:p>
          <a:p>
            <a:pPr rtl="0"/>
            <a:endParaRPr lang="en-ZA" dirty="0">
              <a:effectLst/>
            </a:endParaRPr>
          </a:p>
          <a:p>
            <a:pPr rtl="0"/>
            <a:r>
              <a:rPr lang="en-ZA" dirty="0">
                <a:effectLst/>
              </a:rPr>
              <a:t>Today, I want to take you on a journey into the heart of modern educational challenges and show you how we are solving them. In educational institutions , educators and administrators are constantly bogged down by fragmented data systems and manual reporting. That is why my team and I built the EduTrack Analytics Hub, a centralized platform designed to streamline academic tracking, provide real-time visibility, and empower institutions to make data-driven decisions that improve student success.</a:t>
            </a:r>
          </a:p>
          <a:p>
            <a:pPr rtl="0"/>
            <a:endParaRPr lang="en-ZA" dirty="0">
              <a:effectLst/>
            </a:endParaRPr>
          </a:p>
          <a:p>
            <a:pPr rtl="0"/>
            <a:r>
              <a:rPr lang="en-ZA" dirty="0">
                <a:effectLst/>
              </a:rPr>
              <a:t>To truly understand why this platform is so desperately needed, we have to look closely at the daily realities of running a school or a university. Right now, educators and administrators are facing an uphill battle against administrative gridlock. They are dealing with legacy systems that do not talk to each other, scattered spreadsheets, and isolated databases that create massive data silos. Instead of spending their valuable time mentoring students, planning engaging lessons, or developing impactful academic strategies, school staff are spending countless hours manually compiling reports, chasing down attendance records, and trying to stitch together disparate pieces of student data. This manual reporting is not only exhausting; it is also dangerously slow. By the time a traditional report is finally compiled, reviewed, and approved, weeks have often passed. In the fast-paced world of education, waiting weeks to identify a struggling student means that intervention comes too late.</a:t>
            </a:r>
          </a:p>
          <a:p>
            <a:pPr rtl="0"/>
            <a:endParaRPr lang="en-ZA" dirty="0">
              <a:effectLst/>
            </a:endParaRPr>
          </a:p>
          <a:p>
            <a:pPr rtl="0"/>
            <a:r>
              <a:rPr lang="en-ZA" dirty="0">
                <a:effectLst/>
              </a:rPr>
              <a:t>That exact pain point is the foundational reason why my team and I set out to build something entirely different. We envisioned a tool that would eliminate the friction of legacy systems and bring absolute clarity to academic tracking. That vision became the EduTrack Analytics Hub, a centralized platform designed specifically to streamline academic tracking, provide real-time visibility, and empower institutions to make data-driven decisions that improve student success.</a:t>
            </a:r>
          </a:p>
          <a:p>
            <a:pPr rtl="0"/>
            <a:endParaRPr lang="en-ZA" dirty="0">
              <a:effectLst/>
            </a:endParaRPr>
          </a:p>
          <a:p>
            <a:pPr rtl="0"/>
            <a:r>
              <a:rPr lang="en-ZA" dirty="0">
                <a:effectLst/>
              </a:rPr>
              <a:t>Let us break down what this actually means in practice and how our platform transforms everyday workflows. At its core, EduTrack Analytics Hub acts as a single source of truth. We take all of those fragmented data streams, grades, attendance metrics, behavioral notes, and historical academic records, and pull them into one unified, cohesive dashboard. When an administrator logs into the system at the start of the term, they no longer have to open five different programs or hunt through dusty digital folders. They are greeted with immediate, crystal-clear insights into institutional performance.</a:t>
            </a:r>
          </a:p>
          <a:p>
            <a:pPr rtl="0"/>
            <a:endParaRPr lang="en-ZA" dirty="0">
              <a:effectLst/>
            </a:endParaRPr>
          </a:p>
          <a:p>
            <a:pPr rtl="0"/>
            <a:r>
              <a:rPr lang="en-ZA" dirty="0">
                <a:effectLst/>
              </a:rPr>
              <a:t>Furthermore, our automated reporting engine completely removes the burden of manual compilation. What used to take hours of painstaking copying and pasting now happens instantly at the click of a button. This means administrative staff can redirect their energy toward high-value initiatives rather than routine paperwork.</a:t>
            </a:r>
          </a:p>
          <a:p>
            <a:pPr rtl="0"/>
            <a:r>
              <a:rPr lang="en-ZA" dirty="0">
                <a:effectLst/>
              </a:rPr>
              <a:t>Real-time visibility is another cornerstone of what we have built. Educators and academic leaders are no longer left guessing or operating in the dark. The platform features live tracking and early-warning indicators that automatically flag when a student begins to slip off track, whether through sudden drops in grades, mounting absences, or missed assignments. Because these alerts happen in real time, teachers and counselors can step in immediately with targeted academic interventions. Instead of reacting to a failing final grade at the end of the semester, staff can proactively support the student while there is still plenty of time to turn things around.</a:t>
            </a:r>
          </a:p>
          <a:p>
            <a:pPr rtl="0"/>
            <a:endParaRPr lang="en-ZA" dirty="0">
              <a:effectLst/>
            </a:endParaRPr>
          </a:p>
          <a:p>
            <a:pPr rtl="0"/>
            <a:r>
              <a:rPr lang="en-ZA" dirty="0">
                <a:effectLst/>
              </a:rPr>
              <a:t>Ultimately, everything we have designed centers around one main objective: empowering leadership to make swift, confident, data-driven decisions that fundamentally enhance overall student success. By cutting down reporting overhead, removing data silos, and providing actionable early-warning insights, we are helping institutions build a culture of continuous improvement. We are giving time back to the educators, clarity back to the administrators, and a brighter, more supported path forward for every single student.</a:t>
            </a:r>
          </a:p>
          <a:p>
            <a:pPr rtl="0"/>
            <a:endParaRPr lang="en-ZA" dirty="0">
              <a:effectLst/>
            </a:endParaRPr>
          </a:p>
          <a:p>
            <a:pPr rtl="0"/>
            <a:r>
              <a:rPr lang="en-ZA" dirty="0">
                <a:effectLst/>
              </a:rPr>
              <a:t>Thank you so much for your time and attention.</a:t>
            </a:r>
          </a:p>
          <a:p>
            <a:endParaRPr lang="en-US" b="0" dirty="0"/>
          </a:p>
        </p:txBody>
      </p:sp>
      <p:sp>
        <p:nvSpPr>
          <p:cNvPr id="4" name="Slide Number Placeholder 3"/>
          <p:cNvSpPr>
            <a:spLocks noGrp="1"/>
          </p:cNvSpPr>
          <p:nvPr>
            <p:ph type="sldNum" sz="quarter" idx="5"/>
          </p:nvPr>
        </p:nvSpPr>
        <p:spPr/>
        <p:txBody>
          <a:bodyPr/>
          <a:lstStyle/>
          <a:p>
            <a:fld id="{0DDED59D-4412-C240-995D-4DDE054AF9EA}" type="slidenum">
              <a:rPr lang="en-US" smtClean="0"/>
              <a:t>1</a:t>
            </a:fld>
            <a:endParaRPr lang="en-US"/>
          </a:p>
        </p:txBody>
      </p:sp>
    </p:spTree>
    <p:extLst>
      <p:ext uri="{BB962C8B-B14F-4D97-AF65-F5344CB8AC3E}">
        <p14:creationId xmlns:p14="http://schemas.microsoft.com/office/powerpoint/2010/main" val="729857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i="0" dirty="0"/>
              <a:t>Let’s take a quick look at the agenda for today’s presentation on the EduTrack Analytics Hub.</a:t>
            </a:r>
          </a:p>
          <a:p>
            <a:endParaRPr lang="en-ZA" b="0" i="0" dirty="0"/>
          </a:p>
          <a:p>
            <a:r>
              <a:rPr lang="en-ZA" b="0" i="0" dirty="0"/>
              <a:t>Firstly, we’ll outline the Problem Statement to understand the core challenges we are addressing.</a:t>
            </a:r>
          </a:p>
          <a:p>
            <a:r>
              <a:rPr lang="en-ZA" b="0" i="0" dirty="0"/>
              <a:t>Next, we’ll walk through our proposed Solutions and where we currently stand with Technology Readiness Level (TRL) 3.</a:t>
            </a:r>
          </a:p>
          <a:p>
            <a:r>
              <a:rPr lang="en-ZA" b="0" i="0" dirty="0"/>
              <a:t>After that, we will dive into the Technological Architecture powering the platform and our Go-to-Market Strategy.</a:t>
            </a:r>
          </a:p>
          <a:p>
            <a:r>
              <a:rPr lang="en-ZA" b="0" i="0" dirty="0"/>
              <a:t>Finally, we'll bring it all to life with a User Journey Story and point you toward our Project Resources and Repository for further details.</a:t>
            </a:r>
          </a:p>
          <a:p>
            <a:endParaRPr lang="en-US" b="0" i="0" dirty="0"/>
          </a:p>
        </p:txBody>
      </p:sp>
      <p:sp>
        <p:nvSpPr>
          <p:cNvPr id="4" name="Slide Number Placeholder 3"/>
          <p:cNvSpPr>
            <a:spLocks noGrp="1"/>
          </p:cNvSpPr>
          <p:nvPr>
            <p:ph type="sldNum" sz="quarter" idx="5"/>
          </p:nvPr>
        </p:nvSpPr>
        <p:spPr/>
        <p:txBody>
          <a:bodyPr/>
          <a:lstStyle/>
          <a:p>
            <a:fld id="{0DDED59D-4412-C240-995D-4DDE054AF9EA}" type="slidenum">
              <a:rPr lang="en-US" smtClean="0"/>
              <a:t>2</a:t>
            </a:fld>
            <a:endParaRPr lang="en-US"/>
          </a:p>
        </p:txBody>
      </p:sp>
    </p:spTree>
    <p:extLst>
      <p:ext uri="{BB962C8B-B14F-4D97-AF65-F5344CB8AC3E}">
        <p14:creationId xmlns:p14="http://schemas.microsoft.com/office/powerpoint/2010/main" val="2278891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f88252dc4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f88252dc4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ZA" b="0" dirty="0">
                <a:effectLst/>
              </a:rPr>
              <a:t>Now, let’s move to our Overview slide.</a:t>
            </a:r>
          </a:p>
          <a:p>
            <a:endParaRPr lang="en-ZA" b="0" dirty="0">
              <a:effectLst/>
            </a:endParaRPr>
          </a:p>
          <a:p>
            <a:r>
              <a:rPr lang="en-ZA" b="0" dirty="0">
                <a:effectLst/>
              </a:rPr>
              <a:t>Here we’ll take a clear look at what we are building, why it matters, and how it changes the way schools work today.</a:t>
            </a:r>
          </a:p>
          <a:p>
            <a:endParaRPr lang="en-ZA" b="0" dirty="0"/>
          </a:p>
          <a:p>
            <a:r>
              <a:rPr lang="en-ZA" b="0" dirty="0">
                <a:effectLst/>
              </a:rPr>
              <a:t>First, the big idea behind our platform: EduTrack Analytics Hub is a smart, all-in-one system made to help schools track academics and monitor data easily.</a:t>
            </a:r>
            <a:endParaRPr lang="en-ZA" b="0" dirty="0"/>
          </a:p>
          <a:p>
            <a:r>
              <a:rPr lang="en-ZA" b="0" dirty="0">
                <a:effectLst/>
              </a:rPr>
              <a:t>Right now, teachers and administrators often struggle with too many separate tools and messy information systems. Our platform fixes this by putting student performance, academic records, and school workflows into one simple dashboard.</a:t>
            </a:r>
            <a:endParaRPr lang="en-ZA" b="0" dirty="0"/>
          </a:p>
          <a:p>
            <a:r>
              <a:rPr lang="en-ZA" b="0" dirty="0">
                <a:effectLst/>
              </a:rPr>
              <a:t>This means no more wasting hours digging through files or getting stuck in admin tasks. Instead, the system helps educators see trends, spot early warning signs, and make strong, data-based decisions quickly.</a:t>
            </a:r>
          </a:p>
          <a:p>
            <a:endParaRPr lang="en-ZA" b="0" dirty="0"/>
          </a:p>
          <a:p>
            <a:r>
              <a:rPr lang="en-ZA" b="0" dirty="0">
                <a:effectLst/>
              </a:rPr>
              <a:t>This overview is the starting point of everything we’re building. It connects raw data to real student success. Our mission is to make sure no student is left behind because of slow systems, poor communication, or outdated tools.</a:t>
            </a:r>
            <a:endParaRPr lang="en-ZA" b="0" dirty="0"/>
          </a:p>
          <a:p>
            <a:r>
              <a:rPr lang="en-ZA" b="0" dirty="0">
                <a:effectLst/>
              </a:rPr>
              <a:t>At the end of the day, this platform is about giving time back to teachers and staff. They should focus on teaching and mentoring students, not drowning in paperwork. With speed, clarity, and real-time updates, schools can reach excellence naturally.</a:t>
            </a:r>
            <a:endParaRPr lang="en-ZA" b="0" dirty="0"/>
          </a:p>
          <a:p>
            <a:r>
              <a:rPr lang="en-ZA" b="0" dirty="0">
                <a:effectLst/>
              </a:rPr>
              <a:t>With this vision in mind, let’s move forward and look at the everyday challenges schools face, and how our solutions directly solve them.</a:t>
            </a:r>
            <a:endParaRPr lang="en-ZA" b="0" dirty="0"/>
          </a:p>
          <a:p>
            <a:pPr marL="0" lvl="0" indent="0" algn="l" rtl="0">
              <a:spcBef>
                <a:spcPts val="0"/>
              </a:spcBef>
              <a:spcAft>
                <a:spcPts val="0"/>
              </a:spcAft>
              <a:buNone/>
            </a:pPr>
            <a:endParaRPr b="0" dirty="0"/>
          </a:p>
        </p:txBody>
      </p:sp>
    </p:spTree>
    <p:extLst>
      <p:ext uri="{BB962C8B-B14F-4D97-AF65-F5344CB8AC3E}">
        <p14:creationId xmlns:p14="http://schemas.microsoft.com/office/powerpoint/2010/main" val="3773291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effectLst/>
              </a:rPr>
              <a:t>Education today runs on data, but most institutions are drowning in disconnected systems. That’s where EduTrack Analytics Hub comes in, we’re changing how schools manage academic information.</a:t>
            </a:r>
          </a:p>
          <a:p>
            <a:endParaRPr lang="en-ZA" dirty="0"/>
          </a:p>
          <a:p>
            <a:r>
              <a:rPr lang="en-ZA" dirty="0">
                <a:effectLst/>
              </a:rPr>
              <a:t>The problem is clear: educators spend too much time compiling reports and not enough time supporting students. Our solution is a secure, multilingual platform that centralizes academic tracking and analytics, giving real‑time visibility into student performance and early‑warning indicators.</a:t>
            </a:r>
          </a:p>
          <a:p>
            <a:endParaRPr lang="en-ZA" dirty="0"/>
          </a:p>
          <a:p>
            <a:r>
              <a:rPr lang="en-ZA" dirty="0">
                <a:effectLst/>
              </a:rPr>
              <a:t>By automating reports and integrating live analytics, we cut administrative workload by up to 40 percent. That means faster interventions and better student outcomes.</a:t>
            </a:r>
            <a:endParaRPr lang="en-ZA" dirty="0"/>
          </a:p>
          <a:p>
            <a:r>
              <a:rPr lang="en-ZA" dirty="0">
                <a:effectLst/>
              </a:rPr>
              <a:t>Technically, EduTrack is built with a Security‑by‑Design architecture, verified transcripts, and role‑based access control. We’re currently at TRL 3, proof‑of‑concept validated with working dashboards and PDF transcript generation.</a:t>
            </a:r>
          </a:p>
          <a:p>
            <a:endParaRPr lang="en-ZA" dirty="0"/>
          </a:p>
          <a:p>
            <a:r>
              <a:rPr lang="en-ZA" dirty="0">
                <a:effectLst/>
              </a:rPr>
              <a:t>Our go‑to‑market plan starts with pilot institutions, then scales regionally through partnerships with universities and education departments.</a:t>
            </a:r>
          </a:p>
          <a:p>
            <a:endParaRPr lang="en-ZA" dirty="0"/>
          </a:p>
          <a:p>
            <a:r>
              <a:rPr lang="en-ZA" dirty="0">
                <a:effectLst/>
              </a:rPr>
              <a:t>Our vision is simple, give time back to educators and ensure no student slips through the cracks. EduTrack Analytics Hub isn’t just software; it’s the future of academic management.</a:t>
            </a:r>
            <a:endParaRPr lang="en-ZA" dirty="0"/>
          </a:p>
          <a:p>
            <a:endParaRPr lang="en-US" dirty="0"/>
          </a:p>
        </p:txBody>
      </p:sp>
      <p:sp>
        <p:nvSpPr>
          <p:cNvPr id="4" name="Slide Number Placeholder 3"/>
          <p:cNvSpPr>
            <a:spLocks noGrp="1"/>
          </p:cNvSpPr>
          <p:nvPr>
            <p:ph type="sldNum" sz="quarter" idx="5"/>
          </p:nvPr>
        </p:nvSpPr>
        <p:spPr/>
        <p:txBody>
          <a:bodyPr/>
          <a:lstStyle/>
          <a:p>
            <a:fld id="{0DDED59D-4412-C240-995D-4DDE054AF9EA}" type="slidenum">
              <a:rPr lang="en-US" smtClean="0"/>
              <a:t>4</a:t>
            </a:fld>
            <a:endParaRPr lang="en-US"/>
          </a:p>
        </p:txBody>
      </p:sp>
    </p:spTree>
    <p:extLst>
      <p:ext uri="{BB962C8B-B14F-4D97-AF65-F5344CB8AC3E}">
        <p14:creationId xmlns:p14="http://schemas.microsoft.com/office/powerpoint/2010/main" val="1388106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f88252dc4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1f88252dc4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ZA" sz="1200" b="0" kern="1200" dirty="0">
                <a:solidFill>
                  <a:schemeClr val="tx1"/>
                </a:solidFill>
                <a:effectLst/>
                <a:latin typeface="+mn-lt"/>
                <a:ea typeface="+mn-ea"/>
                <a:cs typeface="+mn-cs"/>
              </a:rPr>
              <a:t>Let’s look at the core problems modern educational institutions face. </a:t>
            </a:r>
          </a:p>
          <a:p>
            <a:endParaRPr lang="en-ZA" sz="1200" b="0" kern="1200" dirty="0">
              <a:solidFill>
                <a:schemeClr val="tx1"/>
              </a:solidFill>
              <a:effectLst/>
              <a:latin typeface="+mn-lt"/>
              <a:ea typeface="+mn-ea"/>
              <a:cs typeface="+mn-cs"/>
            </a:endParaRPr>
          </a:p>
          <a:p>
            <a:r>
              <a:rPr lang="en-ZA" sz="1200" b="0" kern="1200" dirty="0">
                <a:solidFill>
                  <a:schemeClr val="tx1"/>
                </a:solidFill>
                <a:effectLst/>
                <a:latin typeface="+mn-lt"/>
                <a:ea typeface="+mn-ea"/>
                <a:cs typeface="+mn-cs"/>
              </a:rPr>
              <a:t>Firstly, Fragmented Data Systems: Academic records and performance metrics are scattered across disconnected legacy platforms, making tracking difficult. </a:t>
            </a:r>
          </a:p>
          <a:p>
            <a:endParaRPr lang="en-ZA" sz="1200" b="0" kern="1200" dirty="0">
              <a:solidFill>
                <a:schemeClr val="tx1"/>
              </a:solidFill>
              <a:effectLst/>
              <a:latin typeface="+mn-lt"/>
              <a:ea typeface="+mn-ea"/>
              <a:cs typeface="+mn-cs"/>
            </a:endParaRPr>
          </a:p>
          <a:p>
            <a:r>
              <a:rPr lang="en-ZA" sz="1200" b="0" kern="1200" dirty="0">
                <a:solidFill>
                  <a:schemeClr val="tx1"/>
                </a:solidFill>
                <a:effectLst/>
                <a:latin typeface="+mn-lt"/>
                <a:ea typeface="+mn-ea"/>
                <a:cs typeface="+mn-cs"/>
              </a:rPr>
              <a:t>Secondly, Manual Reporting Overhead: Educators spend excessive time compiling manual reports instead of focusing on student support. </a:t>
            </a:r>
          </a:p>
          <a:p>
            <a:endParaRPr lang="en-ZA" sz="1200" b="0" kern="1200" dirty="0">
              <a:solidFill>
                <a:schemeClr val="tx1"/>
              </a:solidFill>
              <a:effectLst/>
              <a:latin typeface="+mn-lt"/>
              <a:ea typeface="+mn-ea"/>
              <a:cs typeface="+mn-cs"/>
            </a:endParaRPr>
          </a:p>
          <a:p>
            <a:r>
              <a:rPr lang="en-ZA" sz="1200" b="0" kern="1200" dirty="0">
                <a:solidFill>
                  <a:schemeClr val="tx1"/>
                </a:solidFill>
                <a:effectLst/>
                <a:latin typeface="+mn-lt"/>
                <a:ea typeface="+mn-ea"/>
                <a:cs typeface="+mn-cs"/>
              </a:rPr>
              <a:t>Thirdly, Lack of Real-Time Visibility: Administrators struggle to get immediate insights into academic trends or early-warning indicators. </a:t>
            </a:r>
          </a:p>
          <a:p>
            <a:endParaRPr lang="en-ZA" sz="1200" b="0" kern="1200" dirty="0">
              <a:solidFill>
                <a:schemeClr val="tx1"/>
              </a:solidFill>
              <a:effectLst/>
              <a:latin typeface="+mn-lt"/>
              <a:ea typeface="+mn-ea"/>
              <a:cs typeface="+mn-cs"/>
            </a:endParaRPr>
          </a:p>
          <a:p>
            <a:r>
              <a:rPr lang="en-ZA" sz="1200" b="0" kern="1200" dirty="0">
                <a:solidFill>
                  <a:schemeClr val="tx1"/>
                </a:solidFill>
                <a:effectLst/>
                <a:latin typeface="+mn-lt"/>
                <a:ea typeface="+mn-ea"/>
                <a:cs typeface="+mn-cs"/>
              </a:rPr>
              <a:t>And fourthly, Decision-Making Delays: Without a centralized dashboard, institutions face major delays in driving timely interventions.</a:t>
            </a:r>
          </a:p>
          <a:p>
            <a:pPr marL="0" lvl="0" indent="0" algn="l" rtl="0">
              <a:spcBef>
                <a:spcPts val="0"/>
              </a:spcBef>
              <a:spcAft>
                <a:spcPts val="0"/>
              </a:spcAft>
              <a:buNone/>
            </a:pPr>
            <a:endParaRPr b="0" dirty="0"/>
          </a:p>
        </p:txBody>
      </p:sp>
    </p:spTree>
    <p:extLst>
      <p:ext uri="{BB962C8B-B14F-4D97-AF65-F5344CB8AC3E}">
        <p14:creationId xmlns:p14="http://schemas.microsoft.com/office/powerpoint/2010/main" val="3220047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f3b8b59d1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f3b8b59d1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ZA" sz="1200" b="0" kern="1200" dirty="0">
                <a:solidFill>
                  <a:schemeClr val="tx1"/>
                </a:solidFill>
                <a:effectLst/>
                <a:latin typeface="+mn-lt"/>
                <a:ea typeface="+mn-ea"/>
                <a:cs typeface="+mn-cs"/>
              </a:rPr>
              <a:t>Now, how do we actually solve these bottlenecks? We built the EduTrack Analytics Hub around four core pillars designed to change how institutions operate. </a:t>
            </a:r>
          </a:p>
          <a:p>
            <a:endParaRPr lang="en-ZA" sz="1200" b="0" kern="1200" dirty="0">
              <a:solidFill>
                <a:schemeClr val="tx1"/>
              </a:solidFill>
              <a:effectLst/>
              <a:latin typeface="+mn-lt"/>
              <a:ea typeface="+mn-ea"/>
              <a:cs typeface="+mn-cs"/>
            </a:endParaRPr>
          </a:p>
          <a:p>
            <a:r>
              <a:rPr lang="en-ZA" sz="1200" b="0" kern="1200" dirty="0">
                <a:solidFill>
                  <a:schemeClr val="tx1"/>
                </a:solidFill>
                <a:effectLst/>
                <a:latin typeface="+mn-lt"/>
                <a:ea typeface="+mn-ea"/>
                <a:cs typeface="+mn-cs"/>
              </a:rPr>
              <a:t>First off, we tackled the data silos. Through Unified Data Consolidation, we bring all student performance metrics and records into one clean, cohesive dashboard, completely getting rid of those messy legacy systems. </a:t>
            </a:r>
          </a:p>
          <a:p>
            <a:r>
              <a:rPr lang="en-ZA" sz="1200" b="0" kern="1200" dirty="0">
                <a:solidFill>
                  <a:schemeClr val="tx1"/>
                </a:solidFill>
                <a:effectLst/>
                <a:latin typeface="+mn-lt"/>
                <a:ea typeface="+mn-ea"/>
                <a:cs typeface="+mn-cs"/>
              </a:rPr>
              <a:t>Next, we went after the administrative headache with our Automated Reporting Engine. Instead of staff wasting hours manually pulling and compiling reports, the system generates that data instantly. </a:t>
            </a:r>
          </a:p>
          <a:p>
            <a:r>
              <a:rPr lang="en-ZA" sz="1200" b="0" kern="1200" dirty="0">
                <a:solidFill>
                  <a:schemeClr val="tx1"/>
                </a:solidFill>
                <a:effectLst/>
                <a:latin typeface="+mn-lt"/>
                <a:ea typeface="+mn-ea"/>
                <a:cs typeface="+mn-cs"/>
              </a:rPr>
              <a:t>Then, we added Real-Time Tracking and Visibility. Educators and admins aren't left guessing anymore, they get live insights and early-warning performance indicators so they can keep an eye on student progress continuously. </a:t>
            </a:r>
          </a:p>
          <a:p>
            <a:r>
              <a:rPr lang="en-ZA" sz="1200" b="0" kern="1200" dirty="0">
                <a:solidFill>
                  <a:schemeClr val="tx1"/>
                </a:solidFill>
                <a:effectLst/>
                <a:latin typeface="+mn-lt"/>
                <a:ea typeface="+mn-ea"/>
                <a:cs typeface="+mn-cs"/>
              </a:rPr>
              <a:t>And finally, all of this leads to Accelerated Intervention. By empowering leadership to interpret data on the fly, they can make timely, data-driven decisions that genuinely improve student success and everyday institutional efficiency.</a:t>
            </a:r>
          </a:p>
          <a:p>
            <a:pPr marL="0" lvl="0" indent="0" algn="l" rtl="0">
              <a:spcBef>
                <a:spcPts val="0"/>
              </a:spcBef>
              <a:spcAft>
                <a:spcPts val="0"/>
              </a:spcAft>
              <a:buNone/>
            </a:pPr>
            <a:endParaRPr b="0" dirty="0"/>
          </a:p>
        </p:txBody>
      </p:sp>
    </p:spTree>
    <p:extLst>
      <p:ext uri="{BB962C8B-B14F-4D97-AF65-F5344CB8AC3E}">
        <p14:creationId xmlns:p14="http://schemas.microsoft.com/office/powerpoint/2010/main" val="3346229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f3b8b59d1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f3b8b59d1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ZA" b="0" i="0" dirty="0"/>
              <a:t>Now, let's talk about where we currently stand with our development, which is at Technology Readiness Level 3.</a:t>
            </a:r>
          </a:p>
          <a:p>
            <a:endParaRPr lang="en-ZA" b="0" i="0" dirty="0"/>
          </a:p>
          <a:p>
            <a:r>
              <a:rPr lang="en-ZA" b="0" i="0" dirty="0"/>
              <a:t>To break that down, TRL 3 basically means we are at the experimental proof-of-concept stage. At this point, our core analytical functions and proof-of-concept validations are fully established.</a:t>
            </a:r>
          </a:p>
          <a:p>
            <a:r>
              <a:rPr lang="en-ZA" b="0" i="0" dirty="0"/>
              <a:t>Looking at our Core Components Built, we've already written our initial architectural scripts, set up the database schemas, and built out the foundational backend logic, which we've tested locally in our development environments.</a:t>
            </a:r>
          </a:p>
          <a:p>
            <a:r>
              <a:rPr lang="en-ZA" b="0" i="0" dirty="0"/>
              <a:t>In terms of Feasibility Testing, we've validated basic data ingestion, tracking models, and analytical queries using code practicals and isolated mock datasets.</a:t>
            </a:r>
          </a:p>
          <a:p>
            <a:r>
              <a:rPr lang="en-ZA" b="0" i="0" dirty="0"/>
              <a:t>And looking ahead at our Next Steps to TRL 4, our immediate goal is to transition these isolated proof-of-concept components into an integrated prototype that we can thoroughly test in a simulated laboratory or staging environment.</a:t>
            </a:r>
          </a:p>
          <a:p>
            <a:pPr marL="0" lvl="0" indent="0" algn="l" rtl="0">
              <a:spcBef>
                <a:spcPts val="0"/>
              </a:spcBef>
              <a:spcAft>
                <a:spcPts val="0"/>
              </a:spcAft>
              <a:buNone/>
            </a:pPr>
            <a:endParaRPr b="0" i="0" dirty="0"/>
          </a:p>
        </p:txBody>
      </p:sp>
    </p:spTree>
    <p:extLst>
      <p:ext uri="{BB962C8B-B14F-4D97-AF65-F5344CB8AC3E}">
        <p14:creationId xmlns:p14="http://schemas.microsoft.com/office/powerpoint/2010/main" val="3077762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f3b8b59d1c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f3b8b59d1c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ZA" b="0" i="0" dirty="0"/>
              <a:t>Let’s look at the backbone of our platform, the Technological Architecture, which we've broken down into four foundational layers.</a:t>
            </a:r>
          </a:p>
          <a:p>
            <a:endParaRPr lang="en-ZA" b="0" i="0" dirty="0"/>
          </a:p>
          <a:p>
            <a:r>
              <a:rPr lang="en-ZA" b="0" i="0" dirty="0"/>
              <a:t>Starting with the Frontend Layer, it's built using a modern user interface framework to give educators and administrators a responsive, intuitive dashboard that's easy to navigate on any device.</a:t>
            </a:r>
          </a:p>
          <a:p>
            <a:r>
              <a:rPr lang="en-ZA" b="0" i="0" dirty="0"/>
              <a:t>Moving to the Backend Services, this tier is powered by robust application logic and server-side scripts that handle all the heavy lifting, from data processing and routing to secure user authentication.</a:t>
            </a:r>
          </a:p>
          <a:p>
            <a:r>
              <a:rPr lang="en-ZA" b="0" i="0" dirty="0"/>
              <a:t>For Database &amp; Storage, we rely on structured data models and relational schemas to securely manage everything from student performance metrics and academic records to broader institutional data.</a:t>
            </a:r>
          </a:p>
          <a:p>
            <a:r>
              <a:rPr lang="en-ZA" b="0" i="0" dirty="0"/>
              <a:t>And finally, for Integration &amp; Security, the system employs secure API communication channels, local network testing protocols, and strict access controls to make sure sensitive educational data stays fully protected.</a:t>
            </a:r>
          </a:p>
          <a:p>
            <a:pPr marL="0" lvl="0" indent="0" algn="l" rtl="0">
              <a:spcBef>
                <a:spcPts val="0"/>
              </a:spcBef>
              <a:spcAft>
                <a:spcPts val="0"/>
              </a:spcAft>
              <a:buNone/>
            </a:pPr>
            <a:endParaRPr b="0" i="0" dirty="0"/>
          </a:p>
        </p:txBody>
      </p:sp>
    </p:spTree>
    <p:extLst>
      <p:ext uri="{BB962C8B-B14F-4D97-AF65-F5344CB8AC3E}">
        <p14:creationId xmlns:p14="http://schemas.microsoft.com/office/powerpoint/2010/main" val="1219759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f3b8b59d1c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f3b8b59d1c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ZA" b="0" i="0" dirty="0"/>
              <a:t>Let’s also talk about our Go-to-Market Strategy, which outlines how we plan to roll this platform out into the real world across four key phases.</a:t>
            </a:r>
          </a:p>
          <a:p>
            <a:endParaRPr lang="en-ZA" b="0" i="0" dirty="0"/>
          </a:p>
          <a:p>
            <a:r>
              <a:rPr lang="en-ZA" b="0" i="0" dirty="0"/>
              <a:t>First, we are launching Target Institution Pilots, running initial proof-of-concept trials with select educational departments or small-scale institutions to validate our workflow efficiency and gather critical user feedback.</a:t>
            </a:r>
          </a:p>
          <a:p>
            <a:endParaRPr lang="en-ZA" b="0" i="0" dirty="0"/>
          </a:p>
          <a:p>
            <a:r>
              <a:rPr lang="en-ZA" b="0" i="0" dirty="0"/>
              <a:t>Second, we focus on Value-Driven Demonstration, where we actively showcase measurable time-savings on reporting and improved early-warning tracking metrics directly to institutional decision-makers and academic leaders.</a:t>
            </a:r>
          </a:p>
          <a:p>
            <a:endParaRPr lang="en-ZA" b="0" i="0" dirty="0"/>
          </a:p>
          <a:p>
            <a:r>
              <a:rPr lang="en-ZA" b="0" i="0" dirty="0"/>
              <a:t>Third, we provide comprehensive Onboarding &amp; Training Support, backing up the platform with clear documentation, intuitive UI walkthroughs, and setup assistance to guarantee seamless adoption by administrative staff and educators alike.</a:t>
            </a:r>
          </a:p>
          <a:p>
            <a:endParaRPr lang="en-ZA" b="0" i="0" dirty="0"/>
          </a:p>
          <a:p>
            <a:r>
              <a:rPr lang="en-ZA" b="0" i="0" dirty="0"/>
              <a:t>And fourth, we look at Scalable Growth &amp; Expansion, transitioning from initial pilot partnerships into broader regional distribution while leveraging user testimonials and continuous platform feature enhancements to scale sustainably.</a:t>
            </a:r>
          </a:p>
          <a:p>
            <a:pPr marL="0" lvl="0" indent="0" algn="l" rtl="0">
              <a:spcBef>
                <a:spcPts val="0"/>
              </a:spcBef>
              <a:spcAft>
                <a:spcPts val="0"/>
              </a:spcAft>
              <a:buNone/>
            </a:pPr>
            <a:endParaRPr b="0" i="0" dirty="0"/>
          </a:p>
        </p:txBody>
      </p:sp>
    </p:spTree>
    <p:extLst>
      <p:ext uri="{BB962C8B-B14F-4D97-AF65-F5344CB8AC3E}">
        <p14:creationId xmlns:p14="http://schemas.microsoft.com/office/powerpoint/2010/main" val="3208183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f88252dc4_0_1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1f88252dc4_0_1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ZA" b="0" i="0" dirty="0">
                <a:effectLst/>
              </a:rPr>
              <a:t>To bring all of this together and show you what it looks like in practice, let's walk through a quick User Journey Story.</a:t>
            </a:r>
          </a:p>
          <a:p>
            <a:pPr rtl="0"/>
            <a:endParaRPr lang="en-ZA" b="0" i="0" dirty="0">
              <a:effectLst/>
            </a:endParaRPr>
          </a:p>
          <a:p>
            <a:pPr rtl="0"/>
            <a:r>
              <a:rPr lang="en-ZA" b="0" i="0" dirty="0">
                <a:effectLst/>
              </a:rPr>
              <a:t>Imagine an administrator logging into the centralized EduTrack Analytics Hub dashboard right at the start of the term to review institutional performance metrics.</a:t>
            </a:r>
          </a:p>
          <a:p>
            <a:pPr rtl="0"/>
            <a:r>
              <a:rPr lang="en-ZA" b="0" i="0" dirty="0">
                <a:effectLst/>
              </a:rPr>
              <a:t>Instead of wasting time checking multiple legacy files, they immediately view unified student tracking data and automated analytics that highlight critical early-warning indicators.</a:t>
            </a:r>
          </a:p>
          <a:p>
            <a:pPr rtl="0"/>
            <a:r>
              <a:rPr lang="en-ZA" b="0" i="0" dirty="0">
                <a:effectLst/>
              </a:rPr>
              <a:t>Using these live dashboard insights, the administrator can promptly pinpoint departments that require support and schedule targeted academic interventions right away.</a:t>
            </a:r>
          </a:p>
          <a:p>
            <a:pPr rtl="0"/>
            <a:r>
              <a:rPr lang="en-ZA" b="0" i="0" dirty="0">
                <a:effectLst/>
              </a:rPr>
              <a:t>Ultimately, this entire workflow concludes with drastically reduced administrative reporting overhead, allowing leadership to make swift, data-driven decisions that genuinely enhance overall student success.</a:t>
            </a:r>
          </a:p>
          <a:p>
            <a:pPr marL="0" lvl="0" indent="0" algn="l" rtl="0">
              <a:spcBef>
                <a:spcPts val="0"/>
              </a:spcBef>
              <a:spcAft>
                <a:spcPts val="0"/>
              </a:spcAft>
              <a:buNone/>
            </a:pPr>
            <a:endParaRPr b="0" i="0" dirty="0"/>
          </a:p>
        </p:txBody>
      </p:sp>
    </p:spTree>
    <p:extLst>
      <p:ext uri="{BB962C8B-B14F-4D97-AF65-F5344CB8AC3E}">
        <p14:creationId xmlns:p14="http://schemas.microsoft.com/office/powerpoint/2010/main" val="1137777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f3b8b59d1c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f3b8b59d1c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ZA" b="0" i="0" dirty="0"/>
              <a:t>Finally, to wrap things up, here are our Project Resources and Repository.</a:t>
            </a:r>
          </a:p>
          <a:p>
            <a:endParaRPr lang="en-ZA" b="0" i="0" dirty="0"/>
          </a:p>
          <a:p>
            <a:r>
              <a:rPr lang="en-ZA" b="0" i="0" dirty="0"/>
              <a:t>For anyone interested in diving deeper into the technical implementation, checking out the source code, or reviewing our documentation, everything is fully open and accessible.</a:t>
            </a:r>
          </a:p>
          <a:p>
            <a:pPr marL="0" marR="0" lvl="0" indent="0" algn="l" defTabSz="914400" rtl="0" eaLnBrk="1" fontAlgn="auto" latinLnBrk="0" hangingPunct="1">
              <a:lnSpc>
                <a:spcPct val="100000"/>
              </a:lnSpc>
              <a:spcBef>
                <a:spcPts val="0"/>
              </a:spcBef>
              <a:spcAft>
                <a:spcPts val="0"/>
              </a:spcAft>
              <a:buClrTx/>
              <a:buSzTx/>
              <a:buFontTx/>
              <a:buNone/>
              <a:tabLst/>
              <a:defRPr/>
            </a:pPr>
            <a:r>
              <a:rPr lang="en-ZA" b="0" i="0" dirty="0"/>
              <a:t>You can find the complete project housed in our GitHub repository right here at  </a:t>
            </a:r>
            <a:r>
              <a:rPr lang="en-GB" u="sng" dirty="0">
                <a:solidFill>
                  <a:schemeClr val="hlink"/>
                </a:solidFill>
                <a:hlinkClick r:id="rId3"/>
              </a:rPr>
              <a:t>https://github.com/Tshepo-Letsoalo/edutrack-analytics-hub</a:t>
            </a:r>
            <a:endParaRPr lang="en-ZA" b="0" i="0" dirty="0"/>
          </a:p>
          <a:p>
            <a:endParaRPr lang="en-ZA" b="0" i="0" dirty="0"/>
          </a:p>
          <a:p>
            <a:endParaRPr lang="en-ZA" b="0" i="0" dirty="0"/>
          </a:p>
          <a:p>
            <a:pPr marL="0" lvl="0" indent="0" algn="l" rtl="0">
              <a:spcBef>
                <a:spcPts val="0"/>
              </a:spcBef>
              <a:spcAft>
                <a:spcPts val="0"/>
              </a:spcAft>
              <a:buNone/>
            </a:pPr>
            <a:endParaRPr b="0" i="0" dirty="0"/>
          </a:p>
        </p:txBody>
      </p:sp>
    </p:spTree>
    <p:extLst>
      <p:ext uri="{BB962C8B-B14F-4D97-AF65-F5344CB8AC3E}">
        <p14:creationId xmlns:p14="http://schemas.microsoft.com/office/powerpoint/2010/main" val="2521515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f88252dc4_0_1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1f88252dc4_0_1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ZA" b="0" i="0" dirty="0"/>
              <a:t>Thank you all so much for your time, attention, and support today. We are really excited about what the EduTrack Analytics Hub can do for educational institutions, and we'd love to open the floor now to any questions, thoughts, or feedback you might have.</a:t>
            </a:r>
            <a:endParaRPr b="0" i="0" dirty="0"/>
          </a:p>
        </p:txBody>
      </p:sp>
    </p:spTree>
    <p:extLst>
      <p:ext uri="{BB962C8B-B14F-4D97-AF65-F5344CB8AC3E}">
        <p14:creationId xmlns:p14="http://schemas.microsoft.com/office/powerpoint/2010/main" val="1587388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81D56-D7CB-9641-AC9E-6F16663C948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F0C7AFA-5505-7844-8E26-550DA00F69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15226AD-4DD2-FC44-BFFF-44B327CAA850}"/>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5" name="Footer Placeholder 4">
            <a:extLst>
              <a:ext uri="{FF2B5EF4-FFF2-40B4-BE49-F238E27FC236}">
                <a16:creationId xmlns:a16="http://schemas.microsoft.com/office/drawing/2014/main" id="{AAC531EC-2224-DE4C-98A0-49F2ADC127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A587D8-2251-704C-807E-4DA803FEE7A2}"/>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221446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C24C2-2771-CC47-9EF9-50D86859BA6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CB08CEB-FD83-9E4E-BEE5-42963A31AB3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0B46F8E-B9E4-ED4F-BA4F-D7FE2CE3DFE1}"/>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5" name="Footer Placeholder 4">
            <a:extLst>
              <a:ext uri="{FF2B5EF4-FFF2-40B4-BE49-F238E27FC236}">
                <a16:creationId xmlns:a16="http://schemas.microsoft.com/office/drawing/2014/main" id="{FF3F145D-A028-224F-8A3D-DAE93B5A69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DABC4D-351D-A34A-B27A-21345A2056F6}"/>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132019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DF974-3A6C-384F-94BD-2A2BFED1AB6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2F989B1-951C-174E-92A2-FEE42065A8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A52408A-A3ED-9744-913F-B611A163DB96}"/>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5" name="Footer Placeholder 4">
            <a:extLst>
              <a:ext uri="{FF2B5EF4-FFF2-40B4-BE49-F238E27FC236}">
                <a16:creationId xmlns:a16="http://schemas.microsoft.com/office/drawing/2014/main" id="{153E1DD3-1BE8-B149-998A-320AF8CF3B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32321-34F3-C844-8D86-5B8937B53B90}"/>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722750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B73AD-A66F-7742-ADBE-7508060DDEA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CD1DB97-1DE8-7D49-8B95-C5454359781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F9BCEF5-47A5-F047-9B59-04F094F270C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047584A-39EB-2B45-8676-9C4718E5D89F}"/>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6" name="Footer Placeholder 5">
            <a:extLst>
              <a:ext uri="{FF2B5EF4-FFF2-40B4-BE49-F238E27FC236}">
                <a16:creationId xmlns:a16="http://schemas.microsoft.com/office/drawing/2014/main" id="{D1417470-B57B-0C4F-9DCC-037AA5B8EF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E7F1ED-6CC4-1B4A-94F3-9917E633D4ED}"/>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2563925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CDEDE-2099-BC4E-ACAC-569D6C339F3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5781B5A-A186-4546-AABA-7CF93FDB77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EAC2B77-CAF7-3246-8E18-1BC8DFD4CA2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2E78E32-BE8E-4B47-9046-C961901BDB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C66F785-EF96-2645-82F4-F64A7A95262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88B6876-42BC-1241-AC98-D5D04CB6BA0E}"/>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8" name="Footer Placeholder 7">
            <a:extLst>
              <a:ext uri="{FF2B5EF4-FFF2-40B4-BE49-F238E27FC236}">
                <a16:creationId xmlns:a16="http://schemas.microsoft.com/office/drawing/2014/main" id="{3BC7680A-7FDF-F347-9765-ECD55A60CF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C0A614-3168-7649-87BA-CD431DA9F71F}"/>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3859807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EA81A-68B3-FA49-960A-9E676178886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8C84E0E-49BE-354A-B2EA-EC197B6D9454}"/>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4" name="Footer Placeholder 3">
            <a:extLst>
              <a:ext uri="{FF2B5EF4-FFF2-40B4-BE49-F238E27FC236}">
                <a16:creationId xmlns:a16="http://schemas.microsoft.com/office/drawing/2014/main" id="{2F345CDF-2051-C340-B559-F94C3632E0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A7C84B-BD4D-E141-8896-356B7E27B605}"/>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3735125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565AA3-8268-CB4F-BE79-1F48C9F0C65A}"/>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3" name="Footer Placeholder 2">
            <a:extLst>
              <a:ext uri="{FF2B5EF4-FFF2-40B4-BE49-F238E27FC236}">
                <a16:creationId xmlns:a16="http://schemas.microsoft.com/office/drawing/2014/main" id="{60C75953-A6C8-8B48-9929-69183DEC07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AC4702-7316-404E-B045-1BC0FBF97FC1}"/>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48978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614DD-74E4-2740-A742-7AF3203FF87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1738F78-4E09-EE4C-AE57-2004A3A17C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4499ADC-ED35-E94A-ABB8-0EDE4EC1A9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E55CBAC-B93C-3D49-8A46-19FA7B94BDF6}"/>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6" name="Footer Placeholder 5">
            <a:extLst>
              <a:ext uri="{FF2B5EF4-FFF2-40B4-BE49-F238E27FC236}">
                <a16:creationId xmlns:a16="http://schemas.microsoft.com/office/drawing/2014/main" id="{2A75A08F-E541-F040-AAE5-DDAD5BAA3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31AE4A-910B-3B4F-BD01-281FBA249FD8}"/>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2767434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FDB4F-A103-9B48-868C-6DC71FE2089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1B71141-BE2A-384C-9351-77BE9B38F1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946FC7-9488-3443-B598-387B2BBC24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54B8FE6-B58A-1744-B730-12CA4681E18B}"/>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6" name="Footer Placeholder 5">
            <a:extLst>
              <a:ext uri="{FF2B5EF4-FFF2-40B4-BE49-F238E27FC236}">
                <a16:creationId xmlns:a16="http://schemas.microsoft.com/office/drawing/2014/main" id="{84E64784-101A-7E4D-9172-91DA6B4FF0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9C1B9A-6A7C-914D-9F85-5AB402449C35}"/>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4093273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FD903-535C-B644-9A16-8D6FF821D4B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E05AAD-B829-7B44-B44B-3A004DC9AA8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CA8307-EC13-4D4C-8099-E9FB352B4564}"/>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5" name="Footer Placeholder 4">
            <a:extLst>
              <a:ext uri="{FF2B5EF4-FFF2-40B4-BE49-F238E27FC236}">
                <a16:creationId xmlns:a16="http://schemas.microsoft.com/office/drawing/2014/main" id="{80299EF2-7082-394C-AB82-7BF45FFCE3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C0B15A-2272-EC4C-9FAF-EC8157DCBA92}"/>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1258891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E22765-CC29-3347-9640-9E435A9BDE7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8FFC1E7-B616-4241-80D6-C744FD3562F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E2AB092-2CA0-D34E-9AB9-025F5A8B3357}"/>
              </a:ext>
            </a:extLst>
          </p:cNvPr>
          <p:cNvSpPr>
            <a:spLocks noGrp="1"/>
          </p:cNvSpPr>
          <p:nvPr>
            <p:ph type="dt" sz="half" idx="10"/>
          </p:nvPr>
        </p:nvSpPr>
        <p:spPr/>
        <p:txBody>
          <a:bodyPr/>
          <a:lstStyle/>
          <a:p>
            <a:fld id="{2DE233C7-06EE-9446-A9DD-5D3BBDA7F830}" type="datetimeFigureOut">
              <a:rPr lang="en-US" smtClean="0"/>
              <a:t>7/31/26</a:t>
            </a:fld>
            <a:endParaRPr lang="en-US"/>
          </a:p>
        </p:txBody>
      </p:sp>
      <p:sp>
        <p:nvSpPr>
          <p:cNvPr id="5" name="Footer Placeholder 4">
            <a:extLst>
              <a:ext uri="{FF2B5EF4-FFF2-40B4-BE49-F238E27FC236}">
                <a16:creationId xmlns:a16="http://schemas.microsoft.com/office/drawing/2014/main" id="{DC9AB393-A224-0E44-B5FB-1FCDCEC32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F1A8C-A358-AB42-A9D4-703D70824065}"/>
              </a:ext>
            </a:extLst>
          </p:cNvPr>
          <p:cNvSpPr>
            <a:spLocks noGrp="1"/>
          </p:cNvSpPr>
          <p:nvPr>
            <p:ph type="sldNum" sz="quarter" idx="12"/>
          </p:nvPr>
        </p:nvSpPr>
        <p:spPr/>
        <p:txBody>
          <a:bodyPr/>
          <a:lstStyle/>
          <a:p>
            <a:fld id="{D1D267B9-A534-D341-B4C2-9A3BC7836360}" type="slidenum">
              <a:rPr lang="en-US" smtClean="0"/>
              <a:t>‹#›</a:t>
            </a:fld>
            <a:endParaRPr lang="en-US"/>
          </a:p>
        </p:txBody>
      </p:sp>
    </p:spTree>
    <p:extLst>
      <p:ext uri="{BB962C8B-B14F-4D97-AF65-F5344CB8AC3E}">
        <p14:creationId xmlns:p14="http://schemas.microsoft.com/office/powerpoint/2010/main" val="24475114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1"/>
        <p:cNvGrpSpPr/>
        <p:nvPr/>
      </p:nvGrpSpPr>
      <p:grpSpPr>
        <a:xfrm>
          <a:off x="0" y="0"/>
          <a:ext cx="0" cy="0"/>
          <a:chOff x="0" y="0"/>
          <a:chExt cx="0" cy="0"/>
        </a:xfrm>
      </p:grpSpPr>
      <p:sp>
        <p:nvSpPr>
          <p:cNvPr id="42" name="Google Shape;42;p5"/>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3" name="Google Shape;43;p5"/>
          <p:cNvGrpSpPr/>
          <p:nvPr/>
        </p:nvGrpSpPr>
        <p:grpSpPr>
          <a:xfrm>
            <a:off x="1107190" y="1588342"/>
            <a:ext cx="994351" cy="61101"/>
            <a:chOff x="4580561" y="2589004"/>
            <a:chExt cx="1064464" cy="25200"/>
          </a:xfrm>
        </p:grpSpPr>
        <p:sp>
          <p:nvSpPr>
            <p:cNvPr id="44" name="Google Shape;4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6" name="Google Shape;46;p5"/>
          <p:cNvSpPr txBox="1">
            <a:spLocks noGrp="1"/>
          </p:cNvSpPr>
          <p:nvPr>
            <p:ph type="title"/>
          </p:nvPr>
        </p:nvSpPr>
        <p:spPr>
          <a:xfrm>
            <a:off x="972600" y="1758200"/>
            <a:ext cx="10251600" cy="713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3467">
                <a:solidFill>
                  <a:schemeClr val="dk2"/>
                </a:solidFill>
              </a:defRPr>
            </a:lvl1pPr>
            <a:lvl2pPr lvl="1">
              <a:spcBef>
                <a:spcPts val="0"/>
              </a:spcBef>
              <a:spcAft>
                <a:spcPts val="0"/>
              </a:spcAft>
              <a:buClr>
                <a:schemeClr val="dk2"/>
              </a:buClr>
              <a:buSzPts val="2600"/>
              <a:buNone/>
              <a:defRPr sz="3467">
                <a:solidFill>
                  <a:schemeClr val="dk2"/>
                </a:solidFill>
              </a:defRPr>
            </a:lvl2pPr>
            <a:lvl3pPr lvl="2">
              <a:spcBef>
                <a:spcPts val="0"/>
              </a:spcBef>
              <a:spcAft>
                <a:spcPts val="0"/>
              </a:spcAft>
              <a:buClr>
                <a:schemeClr val="dk2"/>
              </a:buClr>
              <a:buSzPts val="2600"/>
              <a:buNone/>
              <a:defRPr sz="3467">
                <a:solidFill>
                  <a:schemeClr val="dk2"/>
                </a:solidFill>
              </a:defRPr>
            </a:lvl3pPr>
            <a:lvl4pPr lvl="3">
              <a:spcBef>
                <a:spcPts val="0"/>
              </a:spcBef>
              <a:spcAft>
                <a:spcPts val="0"/>
              </a:spcAft>
              <a:buClr>
                <a:schemeClr val="dk2"/>
              </a:buClr>
              <a:buSzPts val="2600"/>
              <a:buNone/>
              <a:defRPr sz="3467">
                <a:solidFill>
                  <a:schemeClr val="dk2"/>
                </a:solidFill>
              </a:defRPr>
            </a:lvl4pPr>
            <a:lvl5pPr lvl="4">
              <a:spcBef>
                <a:spcPts val="0"/>
              </a:spcBef>
              <a:spcAft>
                <a:spcPts val="0"/>
              </a:spcAft>
              <a:buClr>
                <a:schemeClr val="dk2"/>
              </a:buClr>
              <a:buSzPts val="2600"/>
              <a:buNone/>
              <a:defRPr sz="3467">
                <a:solidFill>
                  <a:schemeClr val="dk2"/>
                </a:solidFill>
              </a:defRPr>
            </a:lvl5pPr>
            <a:lvl6pPr lvl="5">
              <a:spcBef>
                <a:spcPts val="0"/>
              </a:spcBef>
              <a:spcAft>
                <a:spcPts val="0"/>
              </a:spcAft>
              <a:buClr>
                <a:schemeClr val="dk2"/>
              </a:buClr>
              <a:buSzPts val="2600"/>
              <a:buNone/>
              <a:defRPr sz="3467">
                <a:solidFill>
                  <a:schemeClr val="dk2"/>
                </a:solidFill>
              </a:defRPr>
            </a:lvl6pPr>
            <a:lvl7pPr lvl="6">
              <a:spcBef>
                <a:spcPts val="0"/>
              </a:spcBef>
              <a:spcAft>
                <a:spcPts val="0"/>
              </a:spcAft>
              <a:buClr>
                <a:schemeClr val="dk2"/>
              </a:buClr>
              <a:buSzPts val="2600"/>
              <a:buNone/>
              <a:defRPr sz="3467">
                <a:solidFill>
                  <a:schemeClr val="dk2"/>
                </a:solidFill>
              </a:defRPr>
            </a:lvl7pPr>
            <a:lvl8pPr lvl="7">
              <a:spcBef>
                <a:spcPts val="0"/>
              </a:spcBef>
              <a:spcAft>
                <a:spcPts val="0"/>
              </a:spcAft>
              <a:buClr>
                <a:schemeClr val="dk2"/>
              </a:buClr>
              <a:buSzPts val="2600"/>
              <a:buNone/>
              <a:defRPr sz="3467">
                <a:solidFill>
                  <a:schemeClr val="dk2"/>
                </a:solidFill>
              </a:defRPr>
            </a:lvl8pPr>
            <a:lvl9pPr lvl="8">
              <a:spcBef>
                <a:spcPts val="0"/>
              </a:spcBef>
              <a:spcAft>
                <a:spcPts val="0"/>
              </a:spcAft>
              <a:buClr>
                <a:schemeClr val="dk2"/>
              </a:buClr>
              <a:buSzPts val="2600"/>
              <a:buNone/>
              <a:defRPr sz="3467">
                <a:solidFill>
                  <a:schemeClr val="dk2"/>
                </a:solidFill>
              </a:defRPr>
            </a:lvl9pPr>
          </a:lstStyle>
          <a:p>
            <a:endParaRPr/>
          </a:p>
        </p:txBody>
      </p:sp>
      <p:sp>
        <p:nvSpPr>
          <p:cNvPr id="47" name="Google Shape;47;p5"/>
          <p:cNvSpPr txBox="1">
            <a:spLocks noGrp="1"/>
          </p:cNvSpPr>
          <p:nvPr>
            <p:ph type="body" idx="1"/>
          </p:nvPr>
        </p:nvSpPr>
        <p:spPr>
          <a:xfrm>
            <a:off x="972600" y="2771833"/>
            <a:ext cx="10251600" cy="3014800"/>
          </a:xfrm>
          <a:prstGeom prst="rect">
            <a:avLst/>
          </a:prstGeom>
        </p:spPr>
        <p:txBody>
          <a:bodyPr spcFirstLastPara="1" wrap="square" lIns="91425" tIns="91425" rIns="91425" bIns="91425" anchor="t" anchorCtr="0">
            <a:noAutofit/>
          </a:bodyPr>
          <a:lstStyle>
            <a:lvl1pPr marL="609585" lvl="0" indent="-414856">
              <a:spcBef>
                <a:spcPts val="0"/>
              </a:spcBef>
              <a:spcAft>
                <a:spcPts val="0"/>
              </a:spcAft>
              <a:buSzPts val="1300"/>
              <a:buChar char="●"/>
              <a:defRPr/>
            </a:lvl1pPr>
            <a:lvl2pPr marL="1219170" lvl="1" indent="-397923">
              <a:spcBef>
                <a:spcPts val="2133"/>
              </a:spcBef>
              <a:spcAft>
                <a:spcPts val="0"/>
              </a:spcAft>
              <a:buSzPts val="1100"/>
              <a:buChar char="○"/>
              <a:defRPr/>
            </a:lvl2pPr>
            <a:lvl3pPr marL="1828754" lvl="2" indent="-397923">
              <a:spcBef>
                <a:spcPts val="2133"/>
              </a:spcBef>
              <a:spcAft>
                <a:spcPts val="0"/>
              </a:spcAft>
              <a:buSzPts val="1100"/>
              <a:buChar char="■"/>
              <a:defRPr/>
            </a:lvl3pPr>
            <a:lvl4pPr marL="2438339" lvl="3" indent="-397923">
              <a:spcBef>
                <a:spcPts val="2133"/>
              </a:spcBef>
              <a:spcAft>
                <a:spcPts val="0"/>
              </a:spcAft>
              <a:buSzPts val="1100"/>
              <a:buChar char="●"/>
              <a:defRPr/>
            </a:lvl4pPr>
            <a:lvl5pPr marL="3047924" lvl="4" indent="-397923">
              <a:spcBef>
                <a:spcPts val="2133"/>
              </a:spcBef>
              <a:spcAft>
                <a:spcPts val="0"/>
              </a:spcAft>
              <a:buSzPts val="1100"/>
              <a:buChar char="○"/>
              <a:defRPr/>
            </a:lvl5pPr>
            <a:lvl6pPr marL="3657509" lvl="5" indent="-397923">
              <a:spcBef>
                <a:spcPts val="2133"/>
              </a:spcBef>
              <a:spcAft>
                <a:spcPts val="0"/>
              </a:spcAft>
              <a:buSzPts val="1100"/>
              <a:buChar char="■"/>
              <a:defRPr/>
            </a:lvl6pPr>
            <a:lvl7pPr marL="4267093" lvl="6" indent="-397923">
              <a:spcBef>
                <a:spcPts val="2133"/>
              </a:spcBef>
              <a:spcAft>
                <a:spcPts val="0"/>
              </a:spcAft>
              <a:buSzPts val="1100"/>
              <a:buChar char="●"/>
              <a:defRPr/>
            </a:lvl7pPr>
            <a:lvl8pPr marL="4876678" lvl="7" indent="-397923">
              <a:spcBef>
                <a:spcPts val="2133"/>
              </a:spcBef>
              <a:spcAft>
                <a:spcPts val="0"/>
              </a:spcAft>
              <a:buSzPts val="1100"/>
              <a:buChar char="○"/>
              <a:defRPr/>
            </a:lvl8pPr>
            <a:lvl9pPr marL="5486263" lvl="8" indent="-397923">
              <a:spcBef>
                <a:spcPts val="2133"/>
              </a:spcBef>
              <a:spcAft>
                <a:spcPts val="2133"/>
              </a:spcAft>
              <a:buSzPts val="1100"/>
              <a:buChar char="■"/>
              <a:defRPr/>
            </a:lvl9pPr>
          </a:lstStyle>
          <a:p>
            <a:endParaRPr/>
          </a:p>
        </p:txBody>
      </p:sp>
      <p:sp>
        <p:nvSpPr>
          <p:cNvPr id="48" name="Google Shape;48;p5"/>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
        <p:nvSpPr>
          <p:cNvPr id="49" name="Google Shape;49;p5">
            <a:hlinkClick r:id="rId2" action="ppaction://hlinksldjump"/>
          </p:cNvPr>
          <p:cNvSpPr/>
          <p:nvPr/>
        </p:nvSpPr>
        <p:spPr>
          <a:xfrm>
            <a:off x="11040600" y="0"/>
            <a:ext cx="1151200" cy="605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50" name="Google Shape;50;p5">
            <a:hlinkClick r:id="rId2" action="ppaction://hlinksldjump"/>
          </p:cNvPr>
          <p:cNvCxnSpPr/>
          <p:nvPr/>
        </p:nvCxnSpPr>
        <p:spPr>
          <a:xfrm>
            <a:off x="11465089" y="288467"/>
            <a:ext cx="288400" cy="0"/>
          </a:xfrm>
          <a:prstGeom prst="straightConnector1">
            <a:avLst/>
          </a:prstGeom>
          <a:noFill/>
          <a:ln w="9525" cap="flat" cmpd="sng">
            <a:solidFill>
              <a:srgbClr val="B7B7B7"/>
            </a:solidFill>
            <a:prstDash val="solid"/>
            <a:round/>
            <a:headEnd type="none" w="med" len="med"/>
            <a:tailEnd type="none" w="med" len="med"/>
          </a:ln>
        </p:spPr>
      </p:cxnSp>
      <p:cxnSp>
        <p:nvCxnSpPr>
          <p:cNvPr id="51" name="Google Shape;51;p5">
            <a:hlinkClick r:id="rId2" action="ppaction://hlinksldjump"/>
          </p:cNvPr>
          <p:cNvCxnSpPr/>
          <p:nvPr/>
        </p:nvCxnSpPr>
        <p:spPr>
          <a:xfrm>
            <a:off x="11465089" y="333517"/>
            <a:ext cx="288400" cy="0"/>
          </a:xfrm>
          <a:prstGeom prst="straightConnector1">
            <a:avLst/>
          </a:prstGeom>
          <a:noFill/>
          <a:ln w="9525" cap="flat" cmpd="sng">
            <a:solidFill>
              <a:srgbClr val="B7B7B7"/>
            </a:solidFill>
            <a:prstDash val="solid"/>
            <a:round/>
            <a:headEnd type="none" w="med" len="med"/>
            <a:tailEnd type="none" w="med" len="med"/>
          </a:ln>
        </p:spPr>
      </p:cxnSp>
      <p:cxnSp>
        <p:nvCxnSpPr>
          <p:cNvPr id="52" name="Google Shape;52;p5">
            <a:hlinkClick r:id="rId2" action="ppaction://hlinksldjump"/>
          </p:cNvPr>
          <p:cNvCxnSpPr/>
          <p:nvPr/>
        </p:nvCxnSpPr>
        <p:spPr>
          <a:xfrm>
            <a:off x="11465089" y="378567"/>
            <a:ext cx="288400" cy="0"/>
          </a:xfrm>
          <a:prstGeom prst="straightConnector1">
            <a:avLst/>
          </a:prstGeom>
          <a:noFill/>
          <a:ln w="9525" cap="flat" cmpd="sng">
            <a:solidFill>
              <a:srgbClr val="B7B7B7"/>
            </a:solidFill>
            <a:prstDash val="solid"/>
            <a:round/>
            <a:headEnd type="none" w="med" len="med"/>
            <a:tailEnd type="none" w="med" len="med"/>
          </a:ln>
        </p:spPr>
      </p:cxnSp>
    </p:spTree>
    <p:extLst>
      <p:ext uri="{BB962C8B-B14F-4D97-AF65-F5344CB8AC3E}">
        <p14:creationId xmlns:p14="http://schemas.microsoft.com/office/powerpoint/2010/main" val="1607247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_alt1">
  <p:cSld name="Section header_alt1">
    <p:bg>
      <p:bgPr>
        <a:solidFill>
          <a:srgbClr val="434343"/>
        </a:solidFill>
        <a:effectLst/>
      </p:bgPr>
    </p:bg>
    <p:spTree>
      <p:nvGrpSpPr>
        <p:cNvPr id="1" name="Shape 158"/>
        <p:cNvGrpSpPr/>
        <p:nvPr/>
      </p:nvGrpSpPr>
      <p:grpSpPr>
        <a:xfrm>
          <a:off x="0" y="0"/>
          <a:ext cx="0" cy="0"/>
          <a:chOff x="0" y="0"/>
          <a:chExt cx="0" cy="0"/>
        </a:xfrm>
      </p:grpSpPr>
      <p:grpSp>
        <p:nvGrpSpPr>
          <p:cNvPr id="159" name="Google Shape;159;p17"/>
          <p:cNvGrpSpPr/>
          <p:nvPr/>
        </p:nvGrpSpPr>
        <p:grpSpPr>
          <a:xfrm>
            <a:off x="1107190" y="1588342"/>
            <a:ext cx="994351" cy="61101"/>
            <a:chOff x="4580561" y="2589004"/>
            <a:chExt cx="1064464" cy="25200"/>
          </a:xfrm>
        </p:grpSpPr>
        <p:sp>
          <p:nvSpPr>
            <p:cNvPr id="160" name="Google Shape;160;p1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 name="Google Shape;161;p1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2" name="Google Shape;162;p17"/>
          <p:cNvSpPr txBox="1">
            <a:spLocks noGrp="1"/>
          </p:cNvSpPr>
          <p:nvPr>
            <p:ph type="title"/>
          </p:nvPr>
        </p:nvSpPr>
        <p:spPr>
          <a:xfrm>
            <a:off x="972600" y="1763267"/>
            <a:ext cx="10251200" cy="202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sp>
        <p:nvSpPr>
          <p:cNvPr id="163" name="Google Shape;163;p17"/>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GB" smtClean="0"/>
              <a:pPr/>
              <a:t>‹#›</a:t>
            </a:fld>
            <a:endParaRPr lang="en-GB"/>
          </a:p>
        </p:txBody>
      </p:sp>
      <p:sp>
        <p:nvSpPr>
          <p:cNvPr id="164" name="Google Shape;164;p17">
            <a:hlinkClick r:id="rId2" action="ppaction://hlinksldjump"/>
          </p:cNvPr>
          <p:cNvSpPr/>
          <p:nvPr/>
        </p:nvSpPr>
        <p:spPr>
          <a:xfrm>
            <a:off x="11040600" y="0"/>
            <a:ext cx="1151200" cy="605600"/>
          </a:xfrm>
          <a:prstGeom prst="rect">
            <a:avLst/>
          </a:prstGeom>
          <a:solidFill>
            <a:srgbClr val="43434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65" name="Google Shape;165;p17">
            <a:hlinkClick r:id="rId2" action="ppaction://hlinksldjump"/>
          </p:cNvPr>
          <p:cNvCxnSpPr/>
          <p:nvPr/>
        </p:nvCxnSpPr>
        <p:spPr>
          <a:xfrm>
            <a:off x="11465089" y="288467"/>
            <a:ext cx="288400" cy="0"/>
          </a:xfrm>
          <a:prstGeom prst="straightConnector1">
            <a:avLst/>
          </a:prstGeom>
          <a:noFill/>
          <a:ln w="9525" cap="flat" cmpd="sng">
            <a:solidFill>
              <a:schemeClr val="lt2"/>
            </a:solidFill>
            <a:prstDash val="solid"/>
            <a:round/>
            <a:headEnd type="none" w="med" len="med"/>
            <a:tailEnd type="none" w="med" len="med"/>
          </a:ln>
        </p:spPr>
      </p:cxnSp>
      <p:cxnSp>
        <p:nvCxnSpPr>
          <p:cNvPr id="166" name="Google Shape;166;p17">
            <a:hlinkClick r:id="rId2" action="ppaction://hlinksldjump"/>
          </p:cNvPr>
          <p:cNvCxnSpPr/>
          <p:nvPr/>
        </p:nvCxnSpPr>
        <p:spPr>
          <a:xfrm>
            <a:off x="11465089" y="333517"/>
            <a:ext cx="288400" cy="0"/>
          </a:xfrm>
          <a:prstGeom prst="straightConnector1">
            <a:avLst/>
          </a:prstGeom>
          <a:noFill/>
          <a:ln w="9525" cap="flat" cmpd="sng">
            <a:solidFill>
              <a:schemeClr val="lt2"/>
            </a:solidFill>
            <a:prstDash val="solid"/>
            <a:round/>
            <a:headEnd type="none" w="med" len="med"/>
            <a:tailEnd type="none" w="med" len="med"/>
          </a:ln>
        </p:spPr>
      </p:cxnSp>
      <p:cxnSp>
        <p:nvCxnSpPr>
          <p:cNvPr id="167" name="Google Shape;167;p17">
            <a:hlinkClick r:id="rId2" action="ppaction://hlinksldjump"/>
          </p:cNvPr>
          <p:cNvCxnSpPr/>
          <p:nvPr/>
        </p:nvCxnSpPr>
        <p:spPr>
          <a:xfrm>
            <a:off x="11465089" y="378567"/>
            <a:ext cx="288400" cy="0"/>
          </a:xfrm>
          <a:prstGeom prst="straightConnector1">
            <a:avLst/>
          </a:prstGeom>
          <a:noFill/>
          <a:ln w="9525" cap="flat" cmpd="sng">
            <a:solidFill>
              <a:schemeClr val="lt2"/>
            </a:solidFill>
            <a:prstDash val="solid"/>
            <a:round/>
            <a:headEnd type="none" w="med" len="med"/>
            <a:tailEnd type="none" w="med" len="med"/>
          </a:ln>
        </p:spPr>
      </p:cxnSp>
    </p:spTree>
    <p:extLst>
      <p:ext uri="{BB962C8B-B14F-4D97-AF65-F5344CB8AC3E}">
        <p14:creationId xmlns:p14="http://schemas.microsoft.com/office/powerpoint/2010/main" val="1312457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_alt1">
  <p:cSld name="Title slide_alt1">
    <p:bg>
      <p:bgPr>
        <a:solidFill>
          <a:schemeClr val="lt2"/>
        </a:solidFill>
        <a:effectLst/>
      </p:bgPr>
    </p:bg>
    <p:spTree>
      <p:nvGrpSpPr>
        <p:cNvPr id="1" name="Shape 18"/>
        <p:cNvGrpSpPr/>
        <p:nvPr/>
      </p:nvGrpSpPr>
      <p:grpSpPr>
        <a:xfrm>
          <a:off x="0" y="0"/>
          <a:ext cx="0" cy="0"/>
          <a:chOff x="0" y="0"/>
          <a:chExt cx="0" cy="0"/>
        </a:xfrm>
      </p:grpSpPr>
      <p:pic>
        <p:nvPicPr>
          <p:cNvPr id="19" name="Google Shape;19;p3" descr="shutterstock_429987889_edited.jpg"/>
          <p:cNvPicPr preferRelativeResize="0"/>
          <p:nvPr/>
        </p:nvPicPr>
        <p:blipFill rotWithShape="1">
          <a:blip r:embed="rId2">
            <a:alphaModFix/>
          </a:blip>
          <a:srcRect t="21800" b="23591"/>
          <a:stretch/>
        </p:blipFill>
        <p:spPr>
          <a:xfrm>
            <a:off x="0" y="650433"/>
            <a:ext cx="12192000" cy="6207568"/>
          </a:xfrm>
          <a:prstGeom prst="rect">
            <a:avLst/>
          </a:prstGeom>
          <a:noFill/>
          <a:ln>
            <a:noFill/>
          </a:ln>
        </p:spPr>
      </p:pic>
      <p:sp>
        <p:nvSpPr>
          <p:cNvPr id="20" name="Google Shape;20;p3"/>
          <p:cNvSpPr/>
          <p:nvPr/>
        </p:nvSpPr>
        <p:spPr>
          <a:xfrm>
            <a:off x="0" y="0"/>
            <a:ext cx="12192000" cy="6504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 name="Google Shape;21;p3"/>
          <p:cNvGrpSpPr/>
          <p:nvPr/>
        </p:nvGrpSpPr>
        <p:grpSpPr>
          <a:xfrm>
            <a:off x="1107190" y="1588342"/>
            <a:ext cx="994351" cy="61101"/>
            <a:chOff x="4580561" y="2589004"/>
            <a:chExt cx="1064464" cy="25200"/>
          </a:xfrm>
        </p:grpSpPr>
        <p:sp>
          <p:nvSpPr>
            <p:cNvPr id="22" name="Google Shape;22;p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 name="Google Shape;24;p3"/>
          <p:cNvSpPr txBox="1">
            <a:spLocks noGrp="1"/>
          </p:cNvSpPr>
          <p:nvPr>
            <p:ph type="ctrTitle"/>
          </p:nvPr>
        </p:nvSpPr>
        <p:spPr>
          <a:xfrm>
            <a:off x="972600" y="1763267"/>
            <a:ext cx="10250800" cy="221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4200"/>
              <a:buNone/>
              <a:defRPr sz="5600">
                <a:solidFill>
                  <a:schemeClr val="dk2"/>
                </a:solidFill>
              </a:defRPr>
            </a:lvl1pPr>
            <a:lvl2pPr lvl="1" rtl="0">
              <a:spcBef>
                <a:spcPts val="0"/>
              </a:spcBef>
              <a:spcAft>
                <a:spcPts val="0"/>
              </a:spcAft>
              <a:buClr>
                <a:schemeClr val="dk2"/>
              </a:buClr>
              <a:buSzPts val="4200"/>
              <a:buNone/>
              <a:defRPr sz="5600">
                <a:solidFill>
                  <a:schemeClr val="dk2"/>
                </a:solidFill>
              </a:defRPr>
            </a:lvl2pPr>
            <a:lvl3pPr lvl="2" rtl="0">
              <a:spcBef>
                <a:spcPts val="0"/>
              </a:spcBef>
              <a:spcAft>
                <a:spcPts val="0"/>
              </a:spcAft>
              <a:buClr>
                <a:schemeClr val="dk2"/>
              </a:buClr>
              <a:buSzPts val="4200"/>
              <a:buNone/>
              <a:defRPr sz="5600">
                <a:solidFill>
                  <a:schemeClr val="dk2"/>
                </a:solidFill>
              </a:defRPr>
            </a:lvl3pPr>
            <a:lvl4pPr lvl="3" rtl="0">
              <a:spcBef>
                <a:spcPts val="0"/>
              </a:spcBef>
              <a:spcAft>
                <a:spcPts val="0"/>
              </a:spcAft>
              <a:buClr>
                <a:schemeClr val="dk2"/>
              </a:buClr>
              <a:buSzPts val="4200"/>
              <a:buNone/>
              <a:defRPr sz="5600">
                <a:solidFill>
                  <a:schemeClr val="dk2"/>
                </a:solidFill>
              </a:defRPr>
            </a:lvl4pPr>
            <a:lvl5pPr lvl="4" rtl="0">
              <a:spcBef>
                <a:spcPts val="0"/>
              </a:spcBef>
              <a:spcAft>
                <a:spcPts val="0"/>
              </a:spcAft>
              <a:buClr>
                <a:schemeClr val="dk2"/>
              </a:buClr>
              <a:buSzPts val="4200"/>
              <a:buNone/>
              <a:defRPr sz="5600">
                <a:solidFill>
                  <a:schemeClr val="dk2"/>
                </a:solidFill>
              </a:defRPr>
            </a:lvl5pPr>
            <a:lvl6pPr lvl="5" rtl="0">
              <a:spcBef>
                <a:spcPts val="0"/>
              </a:spcBef>
              <a:spcAft>
                <a:spcPts val="0"/>
              </a:spcAft>
              <a:buClr>
                <a:schemeClr val="dk2"/>
              </a:buClr>
              <a:buSzPts val="4200"/>
              <a:buNone/>
              <a:defRPr sz="5600">
                <a:solidFill>
                  <a:schemeClr val="dk2"/>
                </a:solidFill>
              </a:defRPr>
            </a:lvl6pPr>
            <a:lvl7pPr lvl="6" rtl="0">
              <a:spcBef>
                <a:spcPts val="0"/>
              </a:spcBef>
              <a:spcAft>
                <a:spcPts val="0"/>
              </a:spcAft>
              <a:buClr>
                <a:schemeClr val="dk2"/>
              </a:buClr>
              <a:buSzPts val="4200"/>
              <a:buNone/>
              <a:defRPr sz="5600">
                <a:solidFill>
                  <a:schemeClr val="dk2"/>
                </a:solidFill>
              </a:defRPr>
            </a:lvl7pPr>
            <a:lvl8pPr lvl="7" rtl="0">
              <a:spcBef>
                <a:spcPts val="0"/>
              </a:spcBef>
              <a:spcAft>
                <a:spcPts val="0"/>
              </a:spcAft>
              <a:buClr>
                <a:schemeClr val="dk2"/>
              </a:buClr>
              <a:buSzPts val="4200"/>
              <a:buNone/>
              <a:defRPr sz="5600">
                <a:solidFill>
                  <a:schemeClr val="dk2"/>
                </a:solidFill>
              </a:defRPr>
            </a:lvl8pPr>
            <a:lvl9pPr lvl="8" rtl="0">
              <a:spcBef>
                <a:spcPts val="0"/>
              </a:spcBef>
              <a:spcAft>
                <a:spcPts val="0"/>
              </a:spcAft>
              <a:buClr>
                <a:schemeClr val="dk2"/>
              </a:buClr>
              <a:buSzPts val="4200"/>
              <a:buNone/>
              <a:defRPr sz="5600">
                <a:solidFill>
                  <a:schemeClr val="dk2"/>
                </a:solidFill>
              </a:defRPr>
            </a:lvl9pPr>
          </a:lstStyle>
          <a:p>
            <a:endParaRPr/>
          </a:p>
        </p:txBody>
      </p:sp>
      <p:sp>
        <p:nvSpPr>
          <p:cNvPr id="25" name="Google Shape;25;p3"/>
          <p:cNvSpPr txBox="1">
            <a:spLocks noGrp="1"/>
          </p:cNvSpPr>
          <p:nvPr>
            <p:ph type="subTitle" idx="1"/>
          </p:nvPr>
        </p:nvSpPr>
        <p:spPr>
          <a:xfrm>
            <a:off x="972836" y="4230533"/>
            <a:ext cx="10250800" cy="72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endParaRPr/>
          </a:p>
        </p:txBody>
      </p:sp>
      <p:sp>
        <p:nvSpPr>
          <p:cNvPr id="26" name="Google Shape;26;p3"/>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smtClean="0"/>
              <a:pPr/>
              <a:t>‹#›</a:t>
            </a:fld>
            <a:endParaRPr lang="en-GB"/>
          </a:p>
        </p:txBody>
      </p:sp>
      <p:sp>
        <p:nvSpPr>
          <p:cNvPr id="27" name="Google Shape;27;p3">
            <a:hlinkClick r:id="rId3" action="ppaction://hlinksldjump"/>
          </p:cNvPr>
          <p:cNvSpPr/>
          <p:nvPr/>
        </p:nvSpPr>
        <p:spPr>
          <a:xfrm>
            <a:off x="11040600" y="0"/>
            <a:ext cx="1151200" cy="605600"/>
          </a:xfrm>
          <a:prstGeom prst="rect">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28" name="Google Shape;28;p3">
            <a:hlinkClick r:id="rId3" action="ppaction://hlinksldjump"/>
          </p:cNvPr>
          <p:cNvCxnSpPr/>
          <p:nvPr/>
        </p:nvCxnSpPr>
        <p:spPr>
          <a:xfrm>
            <a:off x="11465089" y="288467"/>
            <a:ext cx="288400" cy="0"/>
          </a:xfrm>
          <a:prstGeom prst="straightConnector1">
            <a:avLst/>
          </a:prstGeom>
          <a:noFill/>
          <a:ln w="9525" cap="flat" cmpd="sng">
            <a:solidFill>
              <a:srgbClr val="B7B7B7"/>
            </a:solidFill>
            <a:prstDash val="solid"/>
            <a:round/>
            <a:headEnd type="none" w="med" len="med"/>
            <a:tailEnd type="none" w="med" len="med"/>
          </a:ln>
        </p:spPr>
      </p:cxnSp>
      <p:cxnSp>
        <p:nvCxnSpPr>
          <p:cNvPr id="29" name="Google Shape;29;p3">
            <a:hlinkClick r:id="rId3" action="ppaction://hlinksldjump"/>
          </p:cNvPr>
          <p:cNvCxnSpPr/>
          <p:nvPr/>
        </p:nvCxnSpPr>
        <p:spPr>
          <a:xfrm>
            <a:off x="11465089" y="333517"/>
            <a:ext cx="288400" cy="0"/>
          </a:xfrm>
          <a:prstGeom prst="straightConnector1">
            <a:avLst/>
          </a:prstGeom>
          <a:noFill/>
          <a:ln w="9525" cap="flat" cmpd="sng">
            <a:solidFill>
              <a:srgbClr val="B7B7B7"/>
            </a:solidFill>
            <a:prstDash val="solid"/>
            <a:round/>
            <a:headEnd type="none" w="med" len="med"/>
            <a:tailEnd type="none" w="med" len="med"/>
          </a:ln>
        </p:spPr>
      </p:cxnSp>
      <p:cxnSp>
        <p:nvCxnSpPr>
          <p:cNvPr id="30" name="Google Shape;30;p3">
            <a:hlinkClick r:id="rId3" action="ppaction://hlinksldjump"/>
          </p:cNvPr>
          <p:cNvCxnSpPr/>
          <p:nvPr/>
        </p:nvCxnSpPr>
        <p:spPr>
          <a:xfrm>
            <a:off x="11465089" y="378567"/>
            <a:ext cx="288400" cy="0"/>
          </a:xfrm>
          <a:prstGeom prst="straightConnector1">
            <a:avLst/>
          </a:prstGeom>
          <a:noFill/>
          <a:ln w="9525" cap="flat" cmpd="sng">
            <a:solidFill>
              <a:srgbClr val="B7B7B7"/>
            </a:solidFill>
            <a:prstDash val="solid"/>
            <a:round/>
            <a:headEnd type="none" w="med" len="med"/>
            <a:tailEnd type="none" w="med" len="med"/>
          </a:ln>
        </p:spPr>
      </p:cxnSp>
    </p:spTree>
    <p:extLst>
      <p:ext uri="{BB962C8B-B14F-4D97-AF65-F5344CB8AC3E}">
        <p14:creationId xmlns:p14="http://schemas.microsoft.com/office/powerpoint/2010/main" val="2502044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7CD09F-BE5B-DD47-87E3-22D277B56E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5F53F3A-B47B-CF42-8A23-03DA9AF1D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3DEAD2-746A-F84E-B943-26C85631E1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E233C7-06EE-9446-A9DD-5D3BBDA7F830}" type="datetimeFigureOut">
              <a:rPr lang="en-US" smtClean="0"/>
              <a:t>7/31/26</a:t>
            </a:fld>
            <a:endParaRPr lang="en-US"/>
          </a:p>
        </p:txBody>
      </p:sp>
      <p:sp>
        <p:nvSpPr>
          <p:cNvPr id="5" name="Footer Placeholder 4">
            <a:extLst>
              <a:ext uri="{FF2B5EF4-FFF2-40B4-BE49-F238E27FC236}">
                <a16:creationId xmlns:a16="http://schemas.microsoft.com/office/drawing/2014/main" id="{BAAF3250-4037-C748-B68F-850AF69AE2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627EF7-3F63-F64D-A3CB-C6492F50ED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D267B9-A534-D341-B4C2-9A3BC7836360}" type="slidenum">
              <a:rPr lang="en-US" smtClean="0"/>
              <a:t>‹#›</a:t>
            </a:fld>
            <a:endParaRPr lang="en-US"/>
          </a:p>
        </p:txBody>
      </p:sp>
    </p:spTree>
    <p:extLst>
      <p:ext uri="{BB962C8B-B14F-4D97-AF65-F5344CB8AC3E}">
        <p14:creationId xmlns:p14="http://schemas.microsoft.com/office/powerpoint/2010/main" val="27526463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Tshepo-Letsoalo/edutrack-analytics-hub"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229FF-83E5-934F-A33D-41094063C850}"/>
              </a:ext>
            </a:extLst>
          </p:cNvPr>
          <p:cNvSpPr>
            <a:spLocks noGrp="1"/>
          </p:cNvSpPr>
          <p:nvPr>
            <p:ph type="ctrTitle"/>
          </p:nvPr>
        </p:nvSpPr>
        <p:spPr>
          <a:xfrm>
            <a:off x="117231" y="587790"/>
            <a:ext cx="9144000" cy="2387600"/>
          </a:xfrm>
        </p:spPr>
        <p:txBody>
          <a:bodyPr/>
          <a:lstStyle/>
          <a:p>
            <a:r>
              <a:rPr lang="en-GB" b="1" dirty="0">
                <a:solidFill>
                  <a:srgbClr val="000000"/>
                </a:solidFill>
                <a:latin typeface="Britannic Bold" panose="020B0903060703020204" pitchFamily="34" charset="77"/>
                <a:ea typeface="Batang" panose="02030600000101010101" pitchFamily="18" charset="-127"/>
              </a:rPr>
              <a:t>EduTrack Analytics Hub</a:t>
            </a:r>
            <a:endParaRPr lang="en-US" b="1" dirty="0">
              <a:latin typeface="Britannic Bold" panose="020B0903060703020204" pitchFamily="34" charset="77"/>
              <a:ea typeface="Batang" panose="02030600000101010101" pitchFamily="18" charset="-127"/>
            </a:endParaRPr>
          </a:p>
        </p:txBody>
      </p:sp>
      <p:sp>
        <p:nvSpPr>
          <p:cNvPr id="3" name="Subtitle 2">
            <a:extLst>
              <a:ext uri="{FF2B5EF4-FFF2-40B4-BE49-F238E27FC236}">
                <a16:creationId xmlns:a16="http://schemas.microsoft.com/office/drawing/2014/main" id="{2CD9E4BB-CF09-8446-BAD1-BB62D9A706E6}"/>
              </a:ext>
            </a:extLst>
          </p:cNvPr>
          <p:cNvSpPr>
            <a:spLocks noGrp="1"/>
          </p:cNvSpPr>
          <p:nvPr>
            <p:ph type="subTitle" idx="1"/>
          </p:nvPr>
        </p:nvSpPr>
        <p:spPr>
          <a:xfrm>
            <a:off x="933157" y="3250346"/>
            <a:ext cx="9144000" cy="1655762"/>
          </a:xfrm>
        </p:spPr>
        <p:txBody>
          <a:bodyPr>
            <a:normAutofit/>
          </a:bodyPr>
          <a:lstStyle/>
          <a:p>
            <a:r>
              <a:rPr lang="en-GB" sz="1800" b="1" i="1" dirty="0"/>
              <a:t>Streamlining Academic Tracking for Modern Institutions.</a:t>
            </a:r>
          </a:p>
          <a:p>
            <a:endParaRPr lang="en-US" sz="1800" i="1" dirty="0"/>
          </a:p>
        </p:txBody>
      </p:sp>
    </p:spTree>
    <p:extLst>
      <p:ext uri="{BB962C8B-B14F-4D97-AF65-F5344CB8AC3E}">
        <p14:creationId xmlns:p14="http://schemas.microsoft.com/office/powerpoint/2010/main" val="1932654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011A8-80F9-BD42-AAA5-83BE99D43ABB}"/>
              </a:ext>
            </a:extLst>
          </p:cNvPr>
          <p:cNvSpPr>
            <a:spLocks noGrp="1"/>
          </p:cNvSpPr>
          <p:nvPr>
            <p:ph type="title"/>
          </p:nvPr>
        </p:nvSpPr>
        <p:spPr>
          <a:xfrm>
            <a:off x="556846" y="348755"/>
            <a:ext cx="10515600" cy="1325563"/>
          </a:xfrm>
        </p:spPr>
        <p:txBody>
          <a:bodyPr>
            <a:normAutofit/>
          </a:bodyPr>
          <a:lstStyle/>
          <a:p>
            <a:r>
              <a:rPr lang="en-GB" sz="4800" b="1" dirty="0">
                <a:latin typeface="Britannic Bold" panose="020B0903060703020204" pitchFamily="34" charset="77"/>
              </a:rPr>
              <a:t>Table of Contents</a:t>
            </a:r>
            <a:endParaRPr lang="en-US" sz="4800" b="1" dirty="0">
              <a:latin typeface="Britannic Bold" panose="020B0903060703020204" pitchFamily="34" charset="77"/>
            </a:endParaRPr>
          </a:p>
        </p:txBody>
      </p:sp>
      <p:sp>
        <p:nvSpPr>
          <p:cNvPr id="4" name="Title 1">
            <a:extLst>
              <a:ext uri="{FF2B5EF4-FFF2-40B4-BE49-F238E27FC236}">
                <a16:creationId xmlns:a16="http://schemas.microsoft.com/office/drawing/2014/main" id="{D4EFC525-41DD-FA4C-842B-AB07FA973D4A}"/>
              </a:ext>
            </a:extLst>
          </p:cNvPr>
          <p:cNvSpPr txBox="1">
            <a:spLocks/>
          </p:cNvSpPr>
          <p:nvPr/>
        </p:nvSpPr>
        <p:spPr>
          <a:xfrm>
            <a:off x="706395" y="21980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5" name="Title 1">
            <a:extLst>
              <a:ext uri="{FF2B5EF4-FFF2-40B4-BE49-F238E27FC236}">
                <a16:creationId xmlns:a16="http://schemas.microsoft.com/office/drawing/2014/main" id="{F2489A77-31A2-644E-9667-2F6901F1FFF2}"/>
              </a:ext>
            </a:extLst>
          </p:cNvPr>
          <p:cNvSpPr txBox="1">
            <a:spLocks/>
          </p:cNvSpPr>
          <p:nvPr/>
        </p:nvSpPr>
        <p:spPr>
          <a:xfrm>
            <a:off x="706395" y="19865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t>Overview</a:t>
            </a:r>
          </a:p>
        </p:txBody>
      </p:sp>
      <p:sp>
        <p:nvSpPr>
          <p:cNvPr id="6" name="Title 1">
            <a:extLst>
              <a:ext uri="{FF2B5EF4-FFF2-40B4-BE49-F238E27FC236}">
                <a16:creationId xmlns:a16="http://schemas.microsoft.com/office/drawing/2014/main" id="{500FC0D6-A1D2-4045-BA3F-F9316FB49E7E}"/>
              </a:ext>
            </a:extLst>
          </p:cNvPr>
          <p:cNvSpPr txBox="1">
            <a:spLocks/>
          </p:cNvSpPr>
          <p:nvPr/>
        </p:nvSpPr>
        <p:spPr>
          <a:xfrm>
            <a:off x="706395" y="2266057"/>
            <a:ext cx="10515600" cy="51601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itchFamily="2" charset="2"/>
              <a:buChar char="v"/>
            </a:pPr>
            <a:r>
              <a:rPr lang="en-US" sz="2400" dirty="0"/>
              <a:t>Problem Statement</a:t>
            </a:r>
          </a:p>
          <a:p>
            <a:pPr marL="342900" indent="-342900">
              <a:buFont typeface="Wingdings" pitchFamily="2" charset="2"/>
              <a:buChar char="v"/>
            </a:pPr>
            <a:r>
              <a:rPr lang="en-US" sz="2400" dirty="0"/>
              <a:t>Solutions</a:t>
            </a:r>
          </a:p>
          <a:p>
            <a:pPr marL="342900" indent="-342900">
              <a:buFont typeface="Wingdings" pitchFamily="2" charset="2"/>
              <a:buChar char="v"/>
            </a:pPr>
            <a:r>
              <a:rPr lang="en-US" sz="2400" dirty="0"/>
              <a:t>Technology Readiness Level (TRL)3</a:t>
            </a:r>
          </a:p>
          <a:p>
            <a:pPr marL="342900" indent="-342900">
              <a:buFont typeface="Wingdings" pitchFamily="2" charset="2"/>
              <a:buChar char="v"/>
            </a:pPr>
            <a:r>
              <a:rPr lang="en-US" sz="2400" dirty="0"/>
              <a:t>Technological Architecture</a:t>
            </a:r>
          </a:p>
          <a:p>
            <a:pPr marL="342900" indent="-342900">
              <a:buFont typeface="Wingdings" pitchFamily="2" charset="2"/>
              <a:buChar char="v"/>
            </a:pPr>
            <a:r>
              <a:rPr lang="en-US" sz="2400" dirty="0"/>
              <a:t>Go-to-Market Strategy</a:t>
            </a:r>
          </a:p>
          <a:p>
            <a:pPr marL="342900" indent="-342900">
              <a:buFont typeface="Wingdings" pitchFamily="2" charset="2"/>
              <a:buChar char="v"/>
            </a:pPr>
            <a:r>
              <a:rPr lang="en-US" sz="2400" dirty="0"/>
              <a:t>User Journey Story </a:t>
            </a:r>
          </a:p>
          <a:p>
            <a:pPr marL="342900" indent="-342900">
              <a:buFont typeface="Wingdings" pitchFamily="2" charset="2"/>
              <a:buChar char="v"/>
            </a:pPr>
            <a:r>
              <a:rPr lang="en-US" sz="2400" dirty="0"/>
              <a:t>Project Resources &amp; Repository </a:t>
            </a:r>
          </a:p>
          <a:p>
            <a:pPr marL="342900" indent="-342900">
              <a:buFont typeface="Wingdings" pitchFamily="2" charset="2"/>
              <a:buChar char="v"/>
            </a:pPr>
            <a:endParaRPr lang="en-US" sz="2400" dirty="0"/>
          </a:p>
          <a:p>
            <a:endParaRPr lang="en-US" sz="2400" dirty="0"/>
          </a:p>
        </p:txBody>
      </p:sp>
      <p:sp>
        <p:nvSpPr>
          <p:cNvPr id="7" name="Title 1">
            <a:extLst>
              <a:ext uri="{FF2B5EF4-FFF2-40B4-BE49-F238E27FC236}">
                <a16:creationId xmlns:a16="http://schemas.microsoft.com/office/drawing/2014/main" id="{D01E4262-AB83-F647-9358-C254C3AA0E97}"/>
              </a:ext>
            </a:extLst>
          </p:cNvPr>
          <p:cNvSpPr txBox="1">
            <a:spLocks/>
          </p:cNvSpPr>
          <p:nvPr/>
        </p:nvSpPr>
        <p:spPr>
          <a:xfrm>
            <a:off x="706395" y="41833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Tree>
    <p:extLst>
      <p:ext uri="{BB962C8B-B14F-4D97-AF65-F5344CB8AC3E}">
        <p14:creationId xmlns:p14="http://schemas.microsoft.com/office/powerpoint/2010/main" val="228127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0"/>
          <p:cNvSpPr txBox="1">
            <a:spLocks noGrp="1"/>
          </p:cNvSpPr>
          <p:nvPr>
            <p:ph type="title"/>
          </p:nvPr>
        </p:nvSpPr>
        <p:spPr>
          <a:xfrm>
            <a:off x="972600" y="1758200"/>
            <a:ext cx="10251600" cy="713600"/>
          </a:xfrm>
          <a:prstGeom prst="rect">
            <a:avLst/>
          </a:prstGeom>
        </p:spPr>
        <p:txBody>
          <a:bodyPr spcFirstLastPara="1" vert="horz" wrap="square" lIns="121900" tIns="121900" rIns="121900" bIns="121900" rtlCol="0" anchor="t" anchorCtr="0">
            <a:noAutofit/>
          </a:bodyPr>
          <a:lstStyle/>
          <a:p>
            <a:r>
              <a:rPr lang="en-GB"/>
              <a:t>Overview</a:t>
            </a:r>
            <a:endParaRPr/>
          </a:p>
        </p:txBody>
      </p:sp>
      <p:sp>
        <p:nvSpPr>
          <p:cNvPr id="192" name="Google Shape;192;p20"/>
          <p:cNvSpPr txBox="1">
            <a:spLocks noGrp="1"/>
          </p:cNvSpPr>
          <p:nvPr>
            <p:ph type="body" idx="1"/>
          </p:nvPr>
        </p:nvSpPr>
        <p:spPr>
          <a:xfrm>
            <a:off x="1727100" y="2771833"/>
            <a:ext cx="9497200" cy="1769200"/>
          </a:xfrm>
          <a:prstGeom prst="rect">
            <a:avLst/>
          </a:prstGeom>
        </p:spPr>
        <p:txBody>
          <a:bodyPr spcFirstLastPara="1" vert="horz" wrap="square" lIns="121900" tIns="121900" rIns="121900" bIns="121900" rtlCol="0" anchor="t" anchorCtr="0">
            <a:noAutofit/>
          </a:bodyPr>
          <a:lstStyle/>
          <a:p>
            <a:pPr marL="0" indent="0">
              <a:buNone/>
            </a:pPr>
            <a:r>
              <a:rPr lang="en-GB" sz="1467" b="1">
                <a:solidFill>
                  <a:srgbClr val="000000"/>
                </a:solidFill>
                <a:latin typeface="Arial"/>
                <a:ea typeface="Arial"/>
                <a:cs typeface="Arial"/>
                <a:sym typeface="Arial"/>
              </a:rPr>
              <a:t>EduTrack Analytics Hub</a:t>
            </a:r>
            <a:r>
              <a:rPr lang="en-GB" sz="1467">
                <a:solidFill>
                  <a:srgbClr val="000000"/>
                </a:solidFill>
                <a:latin typeface="Arial"/>
                <a:ea typeface="Arial"/>
                <a:cs typeface="Arial"/>
                <a:sym typeface="Arial"/>
              </a:rPr>
              <a:t> is a centralized platform designed to streamline academic tracking and data monitoring for modern educational institutions. By consolidating student performance metrics and administrative workflows into a single dashboard, the system empowers educators and administrators to make data-driven decisions efficiently.</a:t>
            </a:r>
            <a:endParaRPr sz="1467">
              <a:solidFill>
                <a:srgbClr val="000000"/>
              </a:solidFill>
              <a:latin typeface="Arial"/>
              <a:ea typeface="Arial"/>
              <a:cs typeface="Arial"/>
              <a:sym typeface="Arial"/>
            </a:endParaRPr>
          </a:p>
          <a:p>
            <a:pPr marL="0" indent="0">
              <a:spcBef>
                <a:spcPts val="2133"/>
              </a:spcBef>
              <a:spcAft>
                <a:spcPts val="2133"/>
              </a:spcAft>
              <a:buNone/>
            </a:pPr>
            <a:endParaRPr sz="1467">
              <a:solidFill>
                <a:srgbClr val="000000"/>
              </a:solidFill>
              <a:latin typeface="Arial"/>
              <a:ea typeface="Arial"/>
              <a:cs typeface="Arial"/>
              <a:sym typeface="Arial"/>
            </a:endParaRPr>
          </a:p>
        </p:txBody>
      </p:sp>
      <p:pic>
        <p:nvPicPr>
          <p:cNvPr id="193" name="Google Shape;193;p20" descr="shutterstock_429987889_edited.jpg"/>
          <p:cNvPicPr preferRelativeResize="0"/>
          <p:nvPr/>
        </p:nvPicPr>
        <p:blipFill rotWithShape="1">
          <a:blip r:embed="rId3">
            <a:alphaModFix/>
          </a:blip>
          <a:srcRect l="12610" t="85988" r="6248" b="1382"/>
          <a:stretch/>
        </p:blipFill>
        <p:spPr>
          <a:xfrm>
            <a:off x="0" y="5114227"/>
            <a:ext cx="12192000" cy="1769196"/>
          </a:xfrm>
          <a:prstGeom prst="rect">
            <a:avLst/>
          </a:prstGeom>
          <a:noFill/>
          <a:ln>
            <a:noFill/>
          </a:ln>
        </p:spPr>
      </p:pic>
    </p:spTree>
    <p:extLst>
      <p:ext uri="{BB962C8B-B14F-4D97-AF65-F5344CB8AC3E}">
        <p14:creationId xmlns:p14="http://schemas.microsoft.com/office/powerpoint/2010/main" val="2176117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9973A-4066-4546-B6D9-979776AC4582}"/>
              </a:ext>
            </a:extLst>
          </p:cNvPr>
          <p:cNvSpPr>
            <a:spLocks noGrp="1"/>
          </p:cNvSpPr>
          <p:nvPr>
            <p:ph type="title"/>
          </p:nvPr>
        </p:nvSpPr>
        <p:spPr/>
        <p:txBody>
          <a:bodyPr/>
          <a:lstStyle/>
          <a:p>
            <a:r>
              <a:rPr lang="en-ZA" dirty="0"/>
              <a:t>EduTrack Analytics Hub-Pitch Summary</a:t>
            </a:r>
            <a:endParaRPr lang="en-US" dirty="0"/>
          </a:p>
        </p:txBody>
      </p:sp>
      <p:sp>
        <p:nvSpPr>
          <p:cNvPr id="3" name="Text Placeholder 2">
            <a:extLst>
              <a:ext uri="{FF2B5EF4-FFF2-40B4-BE49-F238E27FC236}">
                <a16:creationId xmlns:a16="http://schemas.microsoft.com/office/drawing/2014/main" id="{C328F6D1-DF1A-9346-8B93-9C7159189F14}"/>
              </a:ext>
            </a:extLst>
          </p:cNvPr>
          <p:cNvSpPr>
            <a:spLocks noGrp="1"/>
          </p:cNvSpPr>
          <p:nvPr>
            <p:ph type="body" idx="1"/>
          </p:nvPr>
        </p:nvSpPr>
        <p:spPr>
          <a:xfrm>
            <a:off x="638699" y="2588037"/>
            <a:ext cx="11279497" cy="4269963"/>
          </a:xfrm>
        </p:spPr>
        <p:txBody>
          <a:bodyPr/>
          <a:lstStyle/>
          <a:p>
            <a:r>
              <a:rPr lang="en-US" sz="1400" dirty="0"/>
              <a:t> </a:t>
            </a:r>
            <a:r>
              <a:rPr lang="en-US" sz="1400" b="1" dirty="0"/>
              <a:t>Opening</a:t>
            </a:r>
            <a:r>
              <a:rPr lang="en-US" sz="1400" dirty="0"/>
              <a:t>: Education runs on data, but most institutions are drowning in disconnected systems. EduTrack Analytics Hub changes that.</a:t>
            </a:r>
          </a:p>
          <a:p>
            <a:endParaRPr lang="en-US" sz="1400" dirty="0"/>
          </a:p>
          <a:p>
            <a:r>
              <a:rPr lang="en-US" sz="1400" dirty="0"/>
              <a:t> </a:t>
            </a:r>
            <a:r>
              <a:rPr lang="en-US" sz="1400" b="1" dirty="0"/>
              <a:t>Problem</a:t>
            </a:r>
            <a:r>
              <a:rPr lang="en-US" sz="1400" dirty="0"/>
              <a:t>: Schools struggle with fragmented records, manual reporting, and slow decision‑making. Educators waste hours compiling data instead of supporting students.</a:t>
            </a:r>
          </a:p>
          <a:p>
            <a:endParaRPr lang="en-US" sz="1400" dirty="0"/>
          </a:p>
          <a:p>
            <a:r>
              <a:rPr lang="en-US" sz="1400" dirty="0"/>
              <a:t> </a:t>
            </a:r>
            <a:r>
              <a:rPr lang="en-US" sz="1400" b="1" dirty="0"/>
              <a:t>Solution</a:t>
            </a:r>
            <a:r>
              <a:rPr lang="en-US" sz="1400" dirty="0"/>
              <a:t>: EduTrack Analytics Hub is a secure, multilingual platform that centralizes academic tracking and analytics. It gives educators real‑time visibility into student performance, early‑warning indicators, and institutional trends, all in one dashboard.</a:t>
            </a:r>
          </a:p>
          <a:p>
            <a:endParaRPr lang="en-US" sz="1400" dirty="0"/>
          </a:p>
          <a:p>
            <a:r>
              <a:rPr lang="en-US" sz="1400" dirty="0"/>
              <a:t> </a:t>
            </a:r>
            <a:r>
              <a:rPr lang="en-US" sz="1400" b="1" dirty="0"/>
              <a:t>Impact</a:t>
            </a:r>
            <a:r>
              <a:rPr lang="en-US" sz="1400" dirty="0"/>
              <a:t>: By automating reports and integrating live analytics, we reduce administrative workload by up to 40%, enabling faster interventions and improved student success.</a:t>
            </a:r>
          </a:p>
          <a:p>
            <a:endParaRPr lang="en-US" sz="1400" dirty="0"/>
          </a:p>
          <a:p>
            <a:r>
              <a:rPr lang="en-US" sz="1400" dirty="0"/>
              <a:t> </a:t>
            </a:r>
            <a:r>
              <a:rPr lang="en-US" sz="1400" b="1" dirty="0"/>
              <a:t>Technology</a:t>
            </a:r>
            <a:r>
              <a:rPr lang="en-US" sz="1400" dirty="0"/>
              <a:t>: Built with a Security‑by‑Design architecture, verified transcripts, and role‑based access control. Currently at TRL 3, proof‑of‑concept validated with working dashboards and PDF transcript generation.</a:t>
            </a:r>
          </a:p>
          <a:p>
            <a:endParaRPr lang="en-US" sz="1400" dirty="0"/>
          </a:p>
          <a:p>
            <a:r>
              <a:rPr lang="en-US" sz="1400" dirty="0"/>
              <a:t> </a:t>
            </a:r>
            <a:r>
              <a:rPr lang="en-US" sz="1400" b="1" dirty="0"/>
              <a:t>Go‑to‑Market</a:t>
            </a:r>
            <a:r>
              <a:rPr lang="en-US" sz="1400" dirty="0"/>
              <a:t>: We’ll pilot with small institutions, gather feedback, and scale regionally through partnerships with universities and education departments.</a:t>
            </a:r>
          </a:p>
          <a:p>
            <a:endParaRPr lang="en-US" sz="1400" dirty="0"/>
          </a:p>
          <a:p>
            <a:r>
              <a:rPr lang="en-US" sz="1400" b="1" dirty="0"/>
              <a:t> Vision</a:t>
            </a:r>
            <a:r>
              <a:rPr lang="en-US" sz="1400" dirty="0"/>
              <a:t>: Our goal is simple,  give time back to educators and ensure no student slips through the cracks.</a:t>
            </a:r>
          </a:p>
          <a:p>
            <a:endParaRPr lang="en-US" sz="1400" dirty="0"/>
          </a:p>
          <a:p>
            <a:r>
              <a:rPr lang="en-US" sz="1400" dirty="0"/>
              <a:t> </a:t>
            </a:r>
            <a:r>
              <a:rPr lang="en-US" sz="1400" b="1" dirty="0"/>
              <a:t>Closing</a:t>
            </a:r>
            <a:r>
              <a:rPr lang="en-US" sz="1400" dirty="0"/>
              <a:t>: EduTrack Analytics Hub isn’t just software, it’s the future of academic management.</a:t>
            </a:r>
          </a:p>
          <a:p>
            <a:endParaRPr lang="en-US" sz="1400" dirty="0"/>
          </a:p>
        </p:txBody>
      </p:sp>
    </p:spTree>
    <p:extLst>
      <p:ext uri="{BB962C8B-B14F-4D97-AF65-F5344CB8AC3E}">
        <p14:creationId xmlns:p14="http://schemas.microsoft.com/office/powerpoint/2010/main" val="1005007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1"/>
          <p:cNvSpPr txBox="1">
            <a:spLocks noGrp="1"/>
          </p:cNvSpPr>
          <p:nvPr>
            <p:ph type="title"/>
          </p:nvPr>
        </p:nvSpPr>
        <p:spPr>
          <a:xfrm>
            <a:off x="972600" y="1758200"/>
            <a:ext cx="10251600" cy="713600"/>
          </a:xfrm>
          <a:prstGeom prst="rect">
            <a:avLst/>
          </a:prstGeom>
        </p:spPr>
        <p:txBody>
          <a:bodyPr spcFirstLastPara="1" vert="horz" wrap="square" lIns="121900" tIns="121900" rIns="121900" bIns="121900" rtlCol="0" anchor="t" anchorCtr="0">
            <a:noAutofit/>
          </a:bodyPr>
          <a:lstStyle/>
          <a:p>
            <a:r>
              <a:rPr lang="en-GB"/>
              <a:t>Problem Statement</a:t>
            </a:r>
            <a:endParaRPr/>
          </a:p>
        </p:txBody>
      </p:sp>
      <p:sp>
        <p:nvSpPr>
          <p:cNvPr id="199" name="Google Shape;199;p21"/>
          <p:cNvSpPr/>
          <p:nvPr/>
        </p:nvSpPr>
        <p:spPr>
          <a:xfrm>
            <a:off x="1867720" y="2908900"/>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1</a:t>
            </a:r>
            <a:endParaRPr sz="1067" b="1">
              <a:solidFill>
                <a:srgbClr val="FFFFFF"/>
              </a:solidFill>
            </a:endParaRPr>
          </a:p>
        </p:txBody>
      </p:sp>
      <p:sp>
        <p:nvSpPr>
          <p:cNvPr id="200" name="Google Shape;200;p21"/>
          <p:cNvSpPr txBox="1">
            <a:spLocks noGrp="1"/>
          </p:cNvSpPr>
          <p:nvPr>
            <p:ph type="body" idx="1"/>
          </p:nvPr>
        </p:nvSpPr>
        <p:spPr>
          <a:xfrm>
            <a:off x="2463588" y="27650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Fragmented Data Systems:</a:t>
            </a:r>
            <a:r>
              <a:rPr lang="en-GB" sz="1467">
                <a:solidFill>
                  <a:srgbClr val="000000"/>
                </a:solidFill>
                <a:latin typeface="Arial"/>
                <a:ea typeface="Arial"/>
                <a:cs typeface="Arial"/>
                <a:sym typeface="Arial"/>
              </a:rPr>
              <a:t> Academic records, student performance metrics, and administrative workflows are often scattered across disconnected legacy platforms, making comprehensive tracking difficult.</a:t>
            </a:r>
            <a:endParaRPr sz="1467"/>
          </a:p>
        </p:txBody>
      </p:sp>
      <p:sp>
        <p:nvSpPr>
          <p:cNvPr id="201" name="Google Shape;201;p21"/>
          <p:cNvSpPr/>
          <p:nvPr/>
        </p:nvSpPr>
        <p:spPr>
          <a:xfrm>
            <a:off x="1867720" y="4538767"/>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2</a:t>
            </a:r>
            <a:endParaRPr sz="1067" b="1">
              <a:solidFill>
                <a:srgbClr val="FFFFFF"/>
              </a:solidFill>
            </a:endParaRPr>
          </a:p>
        </p:txBody>
      </p:sp>
      <p:sp>
        <p:nvSpPr>
          <p:cNvPr id="202" name="Google Shape;202;p21"/>
          <p:cNvSpPr txBox="1">
            <a:spLocks noGrp="1"/>
          </p:cNvSpPr>
          <p:nvPr>
            <p:ph type="body" idx="1"/>
          </p:nvPr>
        </p:nvSpPr>
        <p:spPr>
          <a:xfrm>
            <a:off x="2463588" y="44105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Manual Reporting Overhead:</a:t>
            </a:r>
            <a:r>
              <a:rPr lang="en-GB" sz="1467">
                <a:solidFill>
                  <a:srgbClr val="000000"/>
                </a:solidFill>
                <a:latin typeface="Arial"/>
                <a:ea typeface="Arial"/>
                <a:cs typeface="Arial"/>
                <a:sym typeface="Arial"/>
              </a:rPr>
              <a:t> Educators and staff spend excessive time compiling manual reports rather than focusing on actionable student support.</a:t>
            </a:r>
            <a:endParaRPr sz="1467"/>
          </a:p>
        </p:txBody>
      </p:sp>
      <p:sp>
        <p:nvSpPr>
          <p:cNvPr id="203" name="Google Shape;203;p21"/>
          <p:cNvSpPr/>
          <p:nvPr/>
        </p:nvSpPr>
        <p:spPr>
          <a:xfrm>
            <a:off x="6787745" y="2908900"/>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3</a:t>
            </a:r>
            <a:endParaRPr sz="1067" b="1">
              <a:solidFill>
                <a:srgbClr val="FFFFFF"/>
              </a:solidFill>
            </a:endParaRPr>
          </a:p>
        </p:txBody>
      </p:sp>
      <p:sp>
        <p:nvSpPr>
          <p:cNvPr id="204" name="Google Shape;204;p21"/>
          <p:cNvSpPr txBox="1">
            <a:spLocks noGrp="1"/>
          </p:cNvSpPr>
          <p:nvPr>
            <p:ph type="body" idx="1"/>
          </p:nvPr>
        </p:nvSpPr>
        <p:spPr>
          <a:xfrm>
            <a:off x="7381483" y="27650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Lack of Real-Time Visibility:</a:t>
            </a:r>
            <a:r>
              <a:rPr lang="en-GB" sz="1467">
                <a:solidFill>
                  <a:srgbClr val="000000"/>
                </a:solidFill>
                <a:latin typeface="Arial"/>
                <a:ea typeface="Arial"/>
                <a:cs typeface="Arial"/>
                <a:sym typeface="Arial"/>
              </a:rPr>
              <a:t> Administrators struggle to get immediate, unified insights into academic trends or early-warning performance indicators.</a:t>
            </a:r>
            <a:endParaRPr sz="1467"/>
          </a:p>
        </p:txBody>
      </p:sp>
      <p:sp>
        <p:nvSpPr>
          <p:cNvPr id="205" name="Google Shape;205;p21"/>
          <p:cNvSpPr/>
          <p:nvPr/>
        </p:nvSpPr>
        <p:spPr>
          <a:xfrm>
            <a:off x="6787745" y="4538767"/>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4</a:t>
            </a:r>
            <a:endParaRPr sz="1067" b="1">
              <a:solidFill>
                <a:srgbClr val="FFFFFF"/>
              </a:solidFill>
            </a:endParaRPr>
          </a:p>
        </p:txBody>
      </p:sp>
      <p:sp>
        <p:nvSpPr>
          <p:cNvPr id="206" name="Google Shape;206;p21"/>
          <p:cNvSpPr txBox="1">
            <a:spLocks noGrp="1"/>
          </p:cNvSpPr>
          <p:nvPr>
            <p:ph type="body" idx="1"/>
          </p:nvPr>
        </p:nvSpPr>
        <p:spPr>
          <a:xfrm>
            <a:off x="7381483" y="4410533"/>
            <a:ext cx="3777200" cy="1402400"/>
          </a:xfrm>
          <a:prstGeom prst="rect">
            <a:avLst/>
          </a:prstGeom>
        </p:spPr>
        <p:txBody>
          <a:bodyPr spcFirstLastPara="1" vert="horz" wrap="square" lIns="121900" tIns="121900" rIns="121900" bIns="121900" rtlCol="0" anchor="t" anchorCtr="0">
            <a:noAutofit/>
          </a:bodyPr>
          <a:lstStyle/>
          <a:p>
            <a:pPr marL="0" indent="0">
              <a:spcBef>
                <a:spcPts val="1600"/>
              </a:spcBef>
              <a:buNone/>
            </a:pPr>
            <a:r>
              <a:rPr lang="en-GB" sz="1467" b="1">
                <a:solidFill>
                  <a:srgbClr val="000000"/>
                </a:solidFill>
                <a:latin typeface="Arial"/>
                <a:ea typeface="Arial"/>
                <a:cs typeface="Arial"/>
                <a:sym typeface="Arial"/>
              </a:rPr>
              <a:t>Decision-Making Delays:</a:t>
            </a:r>
            <a:r>
              <a:rPr lang="en-GB" sz="1467">
                <a:solidFill>
                  <a:srgbClr val="000000"/>
                </a:solidFill>
                <a:latin typeface="Arial"/>
                <a:ea typeface="Arial"/>
                <a:cs typeface="Arial"/>
                <a:sym typeface="Arial"/>
              </a:rPr>
              <a:t> Without a centralized dashboard, institutions face delays in interpreting data to drive timely interventions and institutional improvements.</a:t>
            </a:r>
            <a:endParaRPr sz="1467">
              <a:solidFill>
                <a:srgbClr val="000000"/>
              </a:solidFill>
              <a:latin typeface="Arial"/>
              <a:ea typeface="Arial"/>
              <a:cs typeface="Arial"/>
              <a:sym typeface="Arial"/>
            </a:endParaRPr>
          </a:p>
          <a:p>
            <a:pPr marL="0" indent="0">
              <a:spcBef>
                <a:spcPts val="1600"/>
              </a:spcBef>
              <a:spcAft>
                <a:spcPts val="2133"/>
              </a:spcAft>
              <a:buNone/>
            </a:pPr>
            <a:endParaRPr sz="1467"/>
          </a:p>
        </p:txBody>
      </p:sp>
    </p:spTree>
    <p:extLst>
      <p:ext uri="{BB962C8B-B14F-4D97-AF65-F5344CB8AC3E}">
        <p14:creationId xmlns:p14="http://schemas.microsoft.com/office/powerpoint/2010/main" val="2263879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2"/>
          <p:cNvSpPr txBox="1">
            <a:spLocks noGrp="1"/>
          </p:cNvSpPr>
          <p:nvPr>
            <p:ph type="title"/>
          </p:nvPr>
        </p:nvSpPr>
        <p:spPr>
          <a:xfrm>
            <a:off x="972600" y="1758200"/>
            <a:ext cx="10251600" cy="713600"/>
          </a:xfrm>
          <a:prstGeom prst="rect">
            <a:avLst/>
          </a:prstGeom>
        </p:spPr>
        <p:txBody>
          <a:bodyPr spcFirstLastPara="1" vert="horz" wrap="square" lIns="121900" tIns="121900" rIns="121900" bIns="121900" rtlCol="0" anchor="t" anchorCtr="0">
            <a:noAutofit/>
          </a:bodyPr>
          <a:lstStyle/>
          <a:p>
            <a:r>
              <a:rPr lang="en-GB"/>
              <a:t>Solutions</a:t>
            </a:r>
            <a:endParaRPr/>
          </a:p>
        </p:txBody>
      </p:sp>
      <p:sp>
        <p:nvSpPr>
          <p:cNvPr id="212" name="Google Shape;212;p22"/>
          <p:cNvSpPr/>
          <p:nvPr/>
        </p:nvSpPr>
        <p:spPr>
          <a:xfrm>
            <a:off x="1867720" y="2908900"/>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1</a:t>
            </a:r>
            <a:endParaRPr sz="1067" b="1">
              <a:solidFill>
                <a:srgbClr val="FFFFFF"/>
              </a:solidFill>
            </a:endParaRPr>
          </a:p>
        </p:txBody>
      </p:sp>
      <p:sp>
        <p:nvSpPr>
          <p:cNvPr id="213" name="Google Shape;213;p22"/>
          <p:cNvSpPr txBox="1">
            <a:spLocks noGrp="1"/>
          </p:cNvSpPr>
          <p:nvPr>
            <p:ph type="body" idx="1"/>
          </p:nvPr>
        </p:nvSpPr>
        <p:spPr>
          <a:xfrm>
            <a:off x="2463588" y="27650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Unified Data Consolidation:</a:t>
            </a:r>
            <a:r>
              <a:rPr lang="en-GB" sz="1467">
                <a:solidFill>
                  <a:srgbClr val="000000"/>
                </a:solidFill>
                <a:latin typeface="Arial"/>
                <a:ea typeface="Arial"/>
                <a:cs typeface="Arial"/>
                <a:sym typeface="Arial"/>
              </a:rPr>
              <a:t> Centralizes student performance metrics and academic records into a single, cohesive dashboard to eliminate fragmented legacy systems.</a:t>
            </a:r>
            <a:endParaRPr sz="1467"/>
          </a:p>
        </p:txBody>
      </p:sp>
      <p:sp>
        <p:nvSpPr>
          <p:cNvPr id="214" name="Google Shape;214;p22"/>
          <p:cNvSpPr/>
          <p:nvPr/>
        </p:nvSpPr>
        <p:spPr>
          <a:xfrm>
            <a:off x="1867720" y="4538767"/>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2</a:t>
            </a:r>
            <a:endParaRPr sz="1067" b="1">
              <a:solidFill>
                <a:srgbClr val="FFFFFF"/>
              </a:solidFill>
            </a:endParaRPr>
          </a:p>
        </p:txBody>
      </p:sp>
      <p:sp>
        <p:nvSpPr>
          <p:cNvPr id="215" name="Google Shape;215;p22"/>
          <p:cNvSpPr txBox="1">
            <a:spLocks noGrp="1"/>
          </p:cNvSpPr>
          <p:nvPr>
            <p:ph type="body" idx="1"/>
          </p:nvPr>
        </p:nvSpPr>
        <p:spPr>
          <a:xfrm>
            <a:off x="2463588" y="44105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Automated Reporting Engine:</a:t>
            </a:r>
            <a:r>
              <a:rPr lang="en-GB" sz="1467">
                <a:solidFill>
                  <a:srgbClr val="000000"/>
                </a:solidFill>
                <a:latin typeface="Arial"/>
                <a:ea typeface="Arial"/>
                <a:cs typeface="Arial"/>
                <a:sym typeface="Arial"/>
              </a:rPr>
              <a:t> Streamlines administrative workflows and replaces manual report compiling with instant, automated data generation.</a:t>
            </a:r>
            <a:endParaRPr sz="1467"/>
          </a:p>
        </p:txBody>
      </p:sp>
      <p:sp>
        <p:nvSpPr>
          <p:cNvPr id="216" name="Google Shape;216;p22"/>
          <p:cNvSpPr/>
          <p:nvPr/>
        </p:nvSpPr>
        <p:spPr>
          <a:xfrm>
            <a:off x="6787745" y="2908900"/>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3</a:t>
            </a:r>
            <a:endParaRPr sz="1067" b="1">
              <a:solidFill>
                <a:srgbClr val="FFFFFF"/>
              </a:solidFill>
            </a:endParaRPr>
          </a:p>
        </p:txBody>
      </p:sp>
      <p:sp>
        <p:nvSpPr>
          <p:cNvPr id="217" name="Google Shape;217;p22"/>
          <p:cNvSpPr txBox="1">
            <a:spLocks noGrp="1"/>
          </p:cNvSpPr>
          <p:nvPr>
            <p:ph type="body" idx="1"/>
          </p:nvPr>
        </p:nvSpPr>
        <p:spPr>
          <a:xfrm>
            <a:off x="7381483" y="27650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Real-Time Tracking &amp; Visibility:</a:t>
            </a:r>
            <a:r>
              <a:rPr lang="en-GB" sz="1467">
                <a:solidFill>
                  <a:srgbClr val="000000"/>
                </a:solidFill>
                <a:latin typeface="Arial"/>
                <a:ea typeface="Arial"/>
                <a:cs typeface="Arial"/>
                <a:sym typeface="Arial"/>
              </a:rPr>
              <a:t> Provides educators and administrators with live insights and early-warning performance indicators to monitor student progress continuously.</a:t>
            </a:r>
            <a:endParaRPr sz="1467"/>
          </a:p>
        </p:txBody>
      </p:sp>
      <p:sp>
        <p:nvSpPr>
          <p:cNvPr id="218" name="Google Shape;218;p22"/>
          <p:cNvSpPr/>
          <p:nvPr/>
        </p:nvSpPr>
        <p:spPr>
          <a:xfrm>
            <a:off x="6787745" y="4538767"/>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4</a:t>
            </a:r>
            <a:endParaRPr sz="1067" b="1">
              <a:solidFill>
                <a:srgbClr val="FFFFFF"/>
              </a:solidFill>
            </a:endParaRPr>
          </a:p>
        </p:txBody>
      </p:sp>
      <p:sp>
        <p:nvSpPr>
          <p:cNvPr id="219" name="Google Shape;219;p22"/>
          <p:cNvSpPr txBox="1">
            <a:spLocks noGrp="1"/>
          </p:cNvSpPr>
          <p:nvPr>
            <p:ph type="body" idx="1"/>
          </p:nvPr>
        </p:nvSpPr>
        <p:spPr>
          <a:xfrm>
            <a:off x="7381483" y="44105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Accelerated Intervention:</a:t>
            </a:r>
            <a:r>
              <a:rPr lang="en-GB" sz="1467">
                <a:solidFill>
                  <a:srgbClr val="000000"/>
                </a:solidFill>
                <a:latin typeface="Arial"/>
                <a:ea typeface="Arial"/>
                <a:cs typeface="Arial"/>
                <a:sym typeface="Arial"/>
              </a:rPr>
              <a:t> Empowers leadership to interpret data instantly, enabling timely, data-driven decisions that improve student success and institutional efficiency.</a:t>
            </a:r>
            <a:endParaRPr sz="1467"/>
          </a:p>
        </p:txBody>
      </p:sp>
    </p:spTree>
    <p:extLst>
      <p:ext uri="{BB962C8B-B14F-4D97-AF65-F5344CB8AC3E}">
        <p14:creationId xmlns:p14="http://schemas.microsoft.com/office/powerpoint/2010/main" val="3936844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3"/>
          <p:cNvSpPr txBox="1">
            <a:spLocks noGrp="1"/>
          </p:cNvSpPr>
          <p:nvPr>
            <p:ph type="title"/>
          </p:nvPr>
        </p:nvSpPr>
        <p:spPr>
          <a:xfrm>
            <a:off x="972600" y="1758200"/>
            <a:ext cx="10251600" cy="713600"/>
          </a:xfrm>
          <a:prstGeom prst="rect">
            <a:avLst/>
          </a:prstGeom>
        </p:spPr>
        <p:txBody>
          <a:bodyPr spcFirstLastPara="1" vert="horz" wrap="square" lIns="121900" tIns="121900" rIns="121900" bIns="121900" rtlCol="0" anchor="t" anchorCtr="0">
            <a:noAutofit/>
          </a:bodyPr>
          <a:lstStyle/>
          <a:p>
            <a:r>
              <a:rPr lang="en-GB" dirty="0"/>
              <a:t>Technology Readiness Level (TRL) 3</a:t>
            </a:r>
            <a:endParaRPr dirty="0"/>
          </a:p>
        </p:txBody>
      </p:sp>
      <p:sp>
        <p:nvSpPr>
          <p:cNvPr id="225" name="Google Shape;225;p23"/>
          <p:cNvSpPr/>
          <p:nvPr/>
        </p:nvSpPr>
        <p:spPr>
          <a:xfrm>
            <a:off x="1867720" y="2908900"/>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1</a:t>
            </a:r>
            <a:endParaRPr sz="1067" b="1">
              <a:solidFill>
                <a:srgbClr val="FFFFFF"/>
              </a:solidFill>
            </a:endParaRPr>
          </a:p>
        </p:txBody>
      </p:sp>
      <p:sp>
        <p:nvSpPr>
          <p:cNvPr id="226" name="Google Shape;226;p23"/>
          <p:cNvSpPr txBox="1">
            <a:spLocks noGrp="1"/>
          </p:cNvSpPr>
          <p:nvPr>
            <p:ph type="body" idx="1"/>
          </p:nvPr>
        </p:nvSpPr>
        <p:spPr>
          <a:xfrm>
            <a:off x="2463588" y="27650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Definition &amp; Stage:</a:t>
            </a:r>
            <a:r>
              <a:rPr lang="en-GB" sz="1467">
                <a:solidFill>
                  <a:srgbClr val="000000"/>
                </a:solidFill>
                <a:latin typeface="Arial"/>
                <a:ea typeface="Arial"/>
                <a:cs typeface="Arial"/>
                <a:sym typeface="Arial"/>
              </a:rPr>
              <a:t> TRL 3 represents experimental proof of concept. At this stage, analytical and experimental critical function and proof-of-concept validation have been established.</a:t>
            </a:r>
            <a:endParaRPr sz="1467"/>
          </a:p>
        </p:txBody>
      </p:sp>
      <p:sp>
        <p:nvSpPr>
          <p:cNvPr id="227" name="Google Shape;227;p23"/>
          <p:cNvSpPr/>
          <p:nvPr/>
        </p:nvSpPr>
        <p:spPr>
          <a:xfrm>
            <a:off x="1867720" y="4538767"/>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2</a:t>
            </a:r>
            <a:endParaRPr sz="1067" b="1">
              <a:solidFill>
                <a:srgbClr val="FFFFFF"/>
              </a:solidFill>
            </a:endParaRPr>
          </a:p>
        </p:txBody>
      </p:sp>
      <p:sp>
        <p:nvSpPr>
          <p:cNvPr id="228" name="Google Shape;228;p23"/>
          <p:cNvSpPr txBox="1">
            <a:spLocks noGrp="1"/>
          </p:cNvSpPr>
          <p:nvPr>
            <p:ph type="body" idx="1"/>
          </p:nvPr>
        </p:nvSpPr>
        <p:spPr>
          <a:xfrm>
            <a:off x="2463588" y="44105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Core Components Built:</a:t>
            </a:r>
            <a:r>
              <a:rPr lang="en-GB" sz="1467">
                <a:solidFill>
                  <a:srgbClr val="000000"/>
                </a:solidFill>
                <a:latin typeface="Arial"/>
                <a:ea typeface="Arial"/>
                <a:cs typeface="Arial"/>
                <a:sym typeface="Arial"/>
              </a:rPr>
              <a:t> Initial architectural scripts, database schemas, and foundational backend logic have been developed and tested locally within development environments.</a:t>
            </a:r>
            <a:endParaRPr sz="1467"/>
          </a:p>
        </p:txBody>
      </p:sp>
      <p:sp>
        <p:nvSpPr>
          <p:cNvPr id="229" name="Google Shape;229;p23"/>
          <p:cNvSpPr/>
          <p:nvPr/>
        </p:nvSpPr>
        <p:spPr>
          <a:xfrm>
            <a:off x="6787745" y="2908900"/>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3</a:t>
            </a:r>
            <a:endParaRPr sz="1067" b="1">
              <a:solidFill>
                <a:srgbClr val="FFFFFF"/>
              </a:solidFill>
            </a:endParaRPr>
          </a:p>
        </p:txBody>
      </p:sp>
      <p:sp>
        <p:nvSpPr>
          <p:cNvPr id="230" name="Google Shape;230;p23"/>
          <p:cNvSpPr txBox="1">
            <a:spLocks noGrp="1"/>
          </p:cNvSpPr>
          <p:nvPr>
            <p:ph type="body" idx="1"/>
          </p:nvPr>
        </p:nvSpPr>
        <p:spPr>
          <a:xfrm>
            <a:off x="7381483" y="27650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Feasibility Testing:</a:t>
            </a:r>
            <a:r>
              <a:rPr lang="en-GB" sz="1467">
                <a:solidFill>
                  <a:srgbClr val="000000"/>
                </a:solidFill>
                <a:latin typeface="Arial"/>
                <a:ea typeface="Arial"/>
                <a:cs typeface="Arial"/>
                <a:sym typeface="Arial"/>
              </a:rPr>
              <a:t> Basic data ingestion, tracking models, and analytical queries have been validated through code practicals and isolated mock datasets.</a:t>
            </a:r>
            <a:endParaRPr sz="1467"/>
          </a:p>
        </p:txBody>
      </p:sp>
      <p:sp>
        <p:nvSpPr>
          <p:cNvPr id="231" name="Google Shape;231;p23"/>
          <p:cNvSpPr/>
          <p:nvPr/>
        </p:nvSpPr>
        <p:spPr>
          <a:xfrm>
            <a:off x="6787745" y="4538767"/>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4</a:t>
            </a:r>
            <a:endParaRPr sz="1067" b="1">
              <a:solidFill>
                <a:srgbClr val="FFFFFF"/>
              </a:solidFill>
            </a:endParaRPr>
          </a:p>
        </p:txBody>
      </p:sp>
      <p:sp>
        <p:nvSpPr>
          <p:cNvPr id="232" name="Google Shape;232;p23"/>
          <p:cNvSpPr txBox="1">
            <a:spLocks noGrp="1"/>
          </p:cNvSpPr>
          <p:nvPr>
            <p:ph type="body" idx="1"/>
          </p:nvPr>
        </p:nvSpPr>
        <p:spPr>
          <a:xfrm>
            <a:off x="7381483" y="44105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Next Steps to TRL 4:</a:t>
            </a:r>
            <a:r>
              <a:rPr lang="en-GB" sz="1467">
                <a:solidFill>
                  <a:srgbClr val="000000"/>
                </a:solidFill>
                <a:latin typeface="Arial"/>
                <a:ea typeface="Arial"/>
                <a:cs typeface="Arial"/>
                <a:sym typeface="Arial"/>
              </a:rPr>
              <a:t> Transitioning from isolated proof-of-concept components to an integrated prototype tested in a simulated laboratory or staging environment.</a:t>
            </a:r>
            <a:endParaRPr sz="1467"/>
          </a:p>
        </p:txBody>
      </p:sp>
    </p:spTree>
    <p:extLst>
      <p:ext uri="{BB962C8B-B14F-4D97-AF65-F5344CB8AC3E}">
        <p14:creationId xmlns:p14="http://schemas.microsoft.com/office/powerpoint/2010/main" val="1445446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4"/>
          <p:cNvSpPr txBox="1">
            <a:spLocks noGrp="1"/>
          </p:cNvSpPr>
          <p:nvPr>
            <p:ph type="title"/>
          </p:nvPr>
        </p:nvSpPr>
        <p:spPr>
          <a:xfrm>
            <a:off x="972600" y="1758200"/>
            <a:ext cx="10251600" cy="713600"/>
          </a:xfrm>
          <a:prstGeom prst="rect">
            <a:avLst/>
          </a:prstGeom>
        </p:spPr>
        <p:txBody>
          <a:bodyPr spcFirstLastPara="1" vert="horz" wrap="square" lIns="121900" tIns="121900" rIns="121900" bIns="121900" rtlCol="0" anchor="t" anchorCtr="0">
            <a:noAutofit/>
          </a:bodyPr>
          <a:lstStyle/>
          <a:p>
            <a:r>
              <a:rPr lang="en-GB"/>
              <a:t>Technological Architecture</a:t>
            </a:r>
            <a:endParaRPr/>
          </a:p>
        </p:txBody>
      </p:sp>
      <p:sp>
        <p:nvSpPr>
          <p:cNvPr id="238" name="Google Shape;238;p24"/>
          <p:cNvSpPr/>
          <p:nvPr/>
        </p:nvSpPr>
        <p:spPr>
          <a:xfrm>
            <a:off x="1867720" y="2908900"/>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1</a:t>
            </a:r>
            <a:endParaRPr sz="1067" b="1">
              <a:solidFill>
                <a:srgbClr val="FFFFFF"/>
              </a:solidFill>
            </a:endParaRPr>
          </a:p>
        </p:txBody>
      </p:sp>
      <p:sp>
        <p:nvSpPr>
          <p:cNvPr id="239" name="Google Shape;239;p24"/>
          <p:cNvSpPr txBox="1">
            <a:spLocks noGrp="1"/>
          </p:cNvSpPr>
          <p:nvPr>
            <p:ph type="body" idx="1"/>
          </p:nvPr>
        </p:nvSpPr>
        <p:spPr>
          <a:xfrm>
            <a:off x="2463588" y="27650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Frontend Layer:</a:t>
            </a:r>
            <a:r>
              <a:rPr lang="en-GB" sz="1467">
                <a:solidFill>
                  <a:srgbClr val="000000"/>
                </a:solidFill>
                <a:latin typeface="Arial"/>
                <a:ea typeface="Arial"/>
                <a:cs typeface="Arial"/>
                <a:sym typeface="Arial"/>
              </a:rPr>
              <a:t> Built using a modern user interface framework to provide a responsive, intuitive dashboard for educators and administrators.</a:t>
            </a:r>
            <a:endParaRPr sz="1467"/>
          </a:p>
        </p:txBody>
      </p:sp>
      <p:sp>
        <p:nvSpPr>
          <p:cNvPr id="240" name="Google Shape;240;p24"/>
          <p:cNvSpPr/>
          <p:nvPr/>
        </p:nvSpPr>
        <p:spPr>
          <a:xfrm>
            <a:off x="1867720" y="4538767"/>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2</a:t>
            </a:r>
            <a:endParaRPr sz="1067" b="1">
              <a:solidFill>
                <a:srgbClr val="FFFFFF"/>
              </a:solidFill>
            </a:endParaRPr>
          </a:p>
        </p:txBody>
      </p:sp>
      <p:sp>
        <p:nvSpPr>
          <p:cNvPr id="241" name="Google Shape;241;p24"/>
          <p:cNvSpPr txBox="1">
            <a:spLocks noGrp="1"/>
          </p:cNvSpPr>
          <p:nvPr>
            <p:ph type="body" idx="1"/>
          </p:nvPr>
        </p:nvSpPr>
        <p:spPr>
          <a:xfrm>
            <a:off x="2463588" y="4410533"/>
            <a:ext cx="3777200" cy="1402400"/>
          </a:xfrm>
          <a:prstGeom prst="rect">
            <a:avLst/>
          </a:prstGeom>
        </p:spPr>
        <p:txBody>
          <a:bodyPr spcFirstLastPara="1" vert="horz" wrap="square" lIns="121900" tIns="121900" rIns="121900" bIns="121900" rtlCol="0" anchor="t" anchorCtr="0">
            <a:noAutofit/>
          </a:bodyPr>
          <a:lstStyle/>
          <a:p>
            <a:pPr marL="0" indent="0">
              <a:buNone/>
            </a:pPr>
            <a:r>
              <a:rPr lang="en-GB" sz="1467" b="1">
                <a:solidFill>
                  <a:srgbClr val="000000"/>
                </a:solidFill>
                <a:latin typeface="Arial"/>
                <a:ea typeface="Arial"/>
                <a:cs typeface="Arial"/>
                <a:sym typeface="Arial"/>
              </a:rPr>
              <a:t>Backend Services:</a:t>
            </a:r>
            <a:r>
              <a:rPr lang="en-GB" sz="1467">
                <a:solidFill>
                  <a:srgbClr val="000000"/>
                </a:solidFill>
                <a:latin typeface="Arial"/>
                <a:ea typeface="Arial"/>
                <a:cs typeface="Arial"/>
                <a:sym typeface="Arial"/>
              </a:rPr>
              <a:t> Powered by robust application logic and server-side scripts handling data processing, routing, and user authentication.</a:t>
            </a:r>
            <a:endParaRPr sz="1467">
              <a:solidFill>
                <a:srgbClr val="000000"/>
              </a:solidFill>
              <a:latin typeface="Arial"/>
              <a:ea typeface="Arial"/>
              <a:cs typeface="Arial"/>
              <a:sym typeface="Arial"/>
            </a:endParaRPr>
          </a:p>
          <a:p>
            <a:pPr marL="0" indent="0">
              <a:spcBef>
                <a:spcPts val="2133"/>
              </a:spcBef>
              <a:spcAft>
                <a:spcPts val="2133"/>
              </a:spcAft>
              <a:buNone/>
            </a:pPr>
            <a:endParaRPr sz="1467" b="1">
              <a:solidFill>
                <a:srgbClr val="000000"/>
              </a:solidFill>
              <a:latin typeface="Arial"/>
              <a:ea typeface="Arial"/>
              <a:cs typeface="Arial"/>
              <a:sym typeface="Arial"/>
            </a:endParaRPr>
          </a:p>
        </p:txBody>
      </p:sp>
      <p:sp>
        <p:nvSpPr>
          <p:cNvPr id="242" name="Google Shape;242;p24"/>
          <p:cNvSpPr/>
          <p:nvPr/>
        </p:nvSpPr>
        <p:spPr>
          <a:xfrm>
            <a:off x="6787745" y="2908900"/>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3</a:t>
            </a:r>
            <a:endParaRPr sz="1067" b="1">
              <a:solidFill>
                <a:srgbClr val="FFFFFF"/>
              </a:solidFill>
            </a:endParaRPr>
          </a:p>
        </p:txBody>
      </p:sp>
      <p:sp>
        <p:nvSpPr>
          <p:cNvPr id="243" name="Google Shape;243;p24"/>
          <p:cNvSpPr txBox="1">
            <a:spLocks noGrp="1"/>
          </p:cNvSpPr>
          <p:nvPr>
            <p:ph type="body" idx="1"/>
          </p:nvPr>
        </p:nvSpPr>
        <p:spPr>
          <a:xfrm>
            <a:off x="7381483" y="27650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Database &amp; Storage:</a:t>
            </a:r>
            <a:r>
              <a:rPr lang="en-GB" sz="1467">
                <a:solidFill>
                  <a:srgbClr val="000000"/>
                </a:solidFill>
                <a:latin typeface="Arial"/>
                <a:ea typeface="Arial"/>
                <a:cs typeface="Arial"/>
                <a:sym typeface="Arial"/>
              </a:rPr>
              <a:t> Structured data models and relational schemas securely managing student performance metrics, records, and institutional data.</a:t>
            </a:r>
            <a:endParaRPr sz="1467"/>
          </a:p>
        </p:txBody>
      </p:sp>
      <p:sp>
        <p:nvSpPr>
          <p:cNvPr id="244" name="Google Shape;244;p24"/>
          <p:cNvSpPr/>
          <p:nvPr/>
        </p:nvSpPr>
        <p:spPr>
          <a:xfrm>
            <a:off x="6787745" y="4538767"/>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4</a:t>
            </a:r>
            <a:endParaRPr sz="1067" b="1">
              <a:solidFill>
                <a:srgbClr val="FFFFFF"/>
              </a:solidFill>
            </a:endParaRPr>
          </a:p>
        </p:txBody>
      </p:sp>
      <p:sp>
        <p:nvSpPr>
          <p:cNvPr id="245" name="Google Shape;245;p24"/>
          <p:cNvSpPr txBox="1">
            <a:spLocks noGrp="1"/>
          </p:cNvSpPr>
          <p:nvPr>
            <p:ph type="body" idx="1"/>
          </p:nvPr>
        </p:nvSpPr>
        <p:spPr>
          <a:xfrm>
            <a:off x="7381483" y="4410533"/>
            <a:ext cx="3777200" cy="1402400"/>
          </a:xfrm>
          <a:prstGeom prst="rect">
            <a:avLst/>
          </a:prstGeom>
        </p:spPr>
        <p:txBody>
          <a:bodyPr spcFirstLastPara="1" vert="horz" wrap="square" lIns="121900" tIns="121900" rIns="121900" bIns="121900" rtlCol="0" anchor="t" anchorCtr="0">
            <a:noAutofit/>
          </a:bodyPr>
          <a:lstStyle/>
          <a:p>
            <a:pPr marL="0" indent="0">
              <a:spcBef>
                <a:spcPts val="1600"/>
              </a:spcBef>
              <a:buNone/>
            </a:pPr>
            <a:r>
              <a:rPr lang="en-GB" sz="1467" b="1">
                <a:solidFill>
                  <a:srgbClr val="000000"/>
                </a:solidFill>
                <a:latin typeface="Arial"/>
                <a:ea typeface="Arial"/>
                <a:cs typeface="Arial"/>
                <a:sym typeface="Arial"/>
              </a:rPr>
              <a:t>Integration &amp; Security:</a:t>
            </a:r>
            <a:r>
              <a:rPr lang="en-GB" sz="1467">
                <a:solidFill>
                  <a:srgbClr val="000000"/>
                </a:solidFill>
                <a:latin typeface="Arial"/>
                <a:ea typeface="Arial"/>
                <a:cs typeface="Arial"/>
                <a:sym typeface="Arial"/>
              </a:rPr>
              <a:t> Employs secure API communication channels, local network testing protocols, and robust access controls to protect sensitive educational data.</a:t>
            </a:r>
            <a:endParaRPr sz="1467">
              <a:solidFill>
                <a:srgbClr val="000000"/>
              </a:solidFill>
              <a:latin typeface="Arial"/>
              <a:ea typeface="Arial"/>
              <a:cs typeface="Arial"/>
              <a:sym typeface="Arial"/>
            </a:endParaRPr>
          </a:p>
          <a:p>
            <a:pPr marL="0" indent="0">
              <a:spcBef>
                <a:spcPts val="1600"/>
              </a:spcBef>
              <a:spcAft>
                <a:spcPts val="2133"/>
              </a:spcAft>
              <a:buNone/>
            </a:pPr>
            <a:endParaRPr sz="1467" b="1">
              <a:solidFill>
                <a:srgbClr val="000000"/>
              </a:solidFill>
              <a:latin typeface="Arial"/>
              <a:ea typeface="Arial"/>
              <a:cs typeface="Arial"/>
              <a:sym typeface="Arial"/>
            </a:endParaRPr>
          </a:p>
        </p:txBody>
      </p:sp>
    </p:spTree>
    <p:extLst>
      <p:ext uri="{BB962C8B-B14F-4D97-AF65-F5344CB8AC3E}">
        <p14:creationId xmlns:p14="http://schemas.microsoft.com/office/powerpoint/2010/main" val="2418385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5"/>
          <p:cNvSpPr txBox="1">
            <a:spLocks noGrp="1"/>
          </p:cNvSpPr>
          <p:nvPr>
            <p:ph type="title"/>
          </p:nvPr>
        </p:nvSpPr>
        <p:spPr>
          <a:xfrm>
            <a:off x="972600" y="1758200"/>
            <a:ext cx="10251600" cy="713600"/>
          </a:xfrm>
          <a:prstGeom prst="rect">
            <a:avLst/>
          </a:prstGeom>
        </p:spPr>
        <p:txBody>
          <a:bodyPr spcFirstLastPara="1" vert="horz" wrap="square" lIns="121900" tIns="121900" rIns="121900" bIns="121900" rtlCol="0" anchor="t" anchorCtr="0">
            <a:noAutofit/>
          </a:bodyPr>
          <a:lstStyle/>
          <a:p>
            <a:r>
              <a:rPr lang="en-GB"/>
              <a:t>Go-to-Market Strategy</a:t>
            </a:r>
            <a:endParaRPr/>
          </a:p>
        </p:txBody>
      </p:sp>
      <p:sp>
        <p:nvSpPr>
          <p:cNvPr id="251" name="Google Shape;251;p25"/>
          <p:cNvSpPr/>
          <p:nvPr/>
        </p:nvSpPr>
        <p:spPr>
          <a:xfrm>
            <a:off x="1867720" y="2908900"/>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1</a:t>
            </a:r>
            <a:endParaRPr sz="1067" b="1">
              <a:solidFill>
                <a:srgbClr val="FFFFFF"/>
              </a:solidFill>
            </a:endParaRPr>
          </a:p>
        </p:txBody>
      </p:sp>
      <p:sp>
        <p:nvSpPr>
          <p:cNvPr id="252" name="Google Shape;252;p25"/>
          <p:cNvSpPr txBox="1">
            <a:spLocks noGrp="1"/>
          </p:cNvSpPr>
          <p:nvPr>
            <p:ph type="body" idx="1"/>
          </p:nvPr>
        </p:nvSpPr>
        <p:spPr>
          <a:xfrm>
            <a:off x="2463588" y="27650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Target Institution Pilots:</a:t>
            </a:r>
            <a:r>
              <a:rPr lang="en-GB" sz="1467">
                <a:solidFill>
                  <a:srgbClr val="000000"/>
                </a:solidFill>
                <a:latin typeface="Arial"/>
                <a:ea typeface="Arial"/>
                <a:cs typeface="Arial"/>
                <a:sym typeface="Arial"/>
              </a:rPr>
              <a:t> Launch initial proof-of-concept trials with select educational departments or small-scale institutions to validate workflow efficiency and gather user feedback.</a:t>
            </a:r>
            <a:endParaRPr sz="1467"/>
          </a:p>
        </p:txBody>
      </p:sp>
      <p:sp>
        <p:nvSpPr>
          <p:cNvPr id="253" name="Google Shape;253;p25"/>
          <p:cNvSpPr/>
          <p:nvPr/>
        </p:nvSpPr>
        <p:spPr>
          <a:xfrm>
            <a:off x="1867720" y="4538767"/>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2</a:t>
            </a:r>
            <a:endParaRPr sz="1067" b="1">
              <a:solidFill>
                <a:srgbClr val="FFFFFF"/>
              </a:solidFill>
            </a:endParaRPr>
          </a:p>
        </p:txBody>
      </p:sp>
      <p:sp>
        <p:nvSpPr>
          <p:cNvPr id="254" name="Google Shape;254;p25"/>
          <p:cNvSpPr txBox="1">
            <a:spLocks noGrp="1"/>
          </p:cNvSpPr>
          <p:nvPr>
            <p:ph type="body" idx="1"/>
          </p:nvPr>
        </p:nvSpPr>
        <p:spPr>
          <a:xfrm>
            <a:off x="2463588" y="44105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Value-Driven Demonstration:</a:t>
            </a:r>
            <a:r>
              <a:rPr lang="en-GB" sz="1467">
                <a:solidFill>
                  <a:srgbClr val="000000"/>
                </a:solidFill>
                <a:latin typeface="Arial"/>
                <a:ea typeface="Arial"/>
                <a:cs typeface="Arial"/>
                <a:sym typeface="Arial"/>
              </a:rPr>
              <a:t> Showcase measurable time-savings on reporting and improved early-warning tracking metrics to institutional decision-makers and academic leaders.</a:t>
            </a:r>
            <a:endParaRPr sz="1467" b="1">
              <a:solidFill>
                <a:srgbClr val="000000"/>
              </a:solidFill>
              <a:latin typeface="Arial"/>
              <a:ea typeface="Arial"/>
              <a:cs typeface="Arial"/>
              <a:sym typeface="Arial"/>
            </a:endParaRPr>
          </a:p>
        </p:txBody>
      </p:sp>
      <p:sp>
        <p:nvSpPr>
          <p:cNvPr id="255" name="Google Shape;255;p25"/>
          <p:cNvSpPr/>
          <p:nvPr/>
        </p:nvSpPr>
        <p:spPr>
          <a:xfrm>
            <a:off x="6787745" y="2908900"/>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3</a:t>
            </a:r>
            <a:endParaRPr sz="1067" b="1">
              <a:solidFill>
                <a:srgbClr val="FFFFFF"/>
              </a:solidFill>
            </a:endParaRPr>
          </a:p>
        </p:txBody>
      </p:sp>
      <p:sp>
        <p:nvSpPr>
          <p:cNvPr id="256" name="Google Shape;256;p25"/>
          <p:cNvSpPr txBox="1">
            <a:spLocks noGrp="1"/>
          </p:cNvSpPr>
          <p:nvPr>
            <p:ph type="body" idx="1"/>
          </p:nvPr>
        </p:nvSpPr>
        <p:spPr>
          <a:xfrm>
            <a:off x="7381483" y="2765033"/>
            <a:ext cx="3777200" cy="1402400"/>
          </a:xfrm>
          <a:prstGeom prst="rect">
            <a:avLst/>
          </a:prstGeom>
        </p:spPr>
        <p:txBody>
          <a:bodyPr spcFirstLastPara="1" vert="horz" wrap="square" lIns="121900" tIns="121900" rIns="121900" bIns="121900" rtlCol="0" anchor="t" anchorCtr="0">
            <a:noAutofit/>
          </a:bodyPr>
          <a:lstStyle/>
          <a:p>
            <a:pPr marL="0" indent="0">
              <a:spcAft>
                <a:spcPts val="2133"/>
              </a:spcAft>
              <a:buNone/>
            </a:pPr>
            <a:r>
              <a:rPr lang="en-GB" sz="1467" b="1">
                <a:solidFill>
                  <a:srgbClr val="000000"/>
                </a:solidFill>
                <a:latin typeface="Arial"/>
                <a:ea typeface="Arial"/>
                <a:cs typeface="Arial"/>
                <a:sym typeface="Arial"/>
              </a:rPr>
              <a:t>Onboarding &amp; Training Support:</a:t>
            </a:r>
            <a:r>
              <a:rPr lang="en-GB" sz="1467">
                <a:solidFill>
                  <a:srgbClr val="000000"/>
                </a:solidFill>
                <a:latin typeface="Arial"/>
                <a:ea typeface="Arial"/>
                <a:cs typeface="Arial"/>
                <a:sym typeface="Arial"/>
              </a:rPr>
              <a:t> Provide comprehensive documentation, intuitive UI walkthroughs, and setup assistance to ensure seamless adoption by administrative staff and educators.</a:t>
            </a:r>
            <a:endParaRPr sz="1467"/>
          </a:p>
        </p:txBody>
      </p:sp>
      <p:sp>
        <p:nvSpPr>
          <p:cNvPr id="257" name="Google Shape;257;p25"/>
          <p:cNvSpPr/>
          <p:nvPr/>
        </p:nvSpPr>
        <p:spPr>
          <a:xfrm>
            <a:off x="6787745" y="4538767"/>
            <a:ext cx="438400" cy="438400"/>
          </a:xfrm>
          <a:prstGeom prst="ellipse">
            <a:avLst/>
          </a:prstGeom>
          <a:solidFill>
            <a:srgbClr val="00BFA5"/>
          </a:solidFill>
          <a:ln>
            <a:noFill/>
          </a:ln>
        </p:spPr>
        <p:txBody>
          <a:bodyPr spcFirstLastPara="1" wrap="square" lIns="121900" tIns="121900" rIns="121900" bIns="121900" anchor="ctr" anchorCtr="0">
            <a:noAutofit/>
          </a:bodyPr>
          <a:lstStyle/>
          <a:p>
            <a:pPr algn="ctr"/>
            <a:r>
              <a:rPr lang="en-GB" sz="1067" b="1">
                <a:solidFill>
                  <a:srgbClr val="FFFFFF"/>
                </a:solidFill>
              </a:rPr>
              <a:t>4</a:t>
            </a:r>
            <a:endParaRPr sz="1067" b="1">
              <a:solidFill>
                <a:srgbClr val="FFFFFF"/>
              </a:solidFill>
            </a:endParaRPr>
          </a:p>
        </p:txBody>
      </p:sp>
      <p:sp>
        <p:nvSpPr>
          <p:cNvPr id="258" name="Google Shape;258;p25"/>
          <p:cNvSpPr txBox="1">
            <a:spLocks noGrp="1"/>
          </p:cNvSpPr>
          <p:nvPr>
            <p:ph type="body" idx="1"/>
          </p:nvPr>
        </p:nvSpPr>
        <p:spPr>
          <a:xfrm>
            <a:off x="7381483" y="4410533"/>
            <a:ext cx="3777200" cy="1402400"/>
          </a:xfrm>
          <a:prstGeom prst="rect">
            <a:avLst/>
          </a:prstGeom>
        </p:spPr>
        <p:txBody>
          <a:bodyPr spcFirstLastPara="1" vert="horz" wrap="square" lIns="121900" tIns="121900" rIns="121900" bIns="121900" rtlCol="0" anchor="t" anchorCtr="0">
            <a:noAutofit/>
          </a:bodyPr>
          <a:lstStyle/>
          <a:p>
            <a:pPr marL="0" indent="0">
              <a:spcBef>
                <a:spcPts val="1600"/>
              </a:spcBef>
              <a:buNone/>
            </a:pPr>
            <a:r>
              <a:rPr lang="en-GB" sz="1467" b="1">
                <a:solidFill>
                  <a:srgbClr val="000000"/>
                </a:solidFill>
                <a:latin typeface="Arial"/>
                <a:ea typeface="Arial"/>
                <a:cs typeface="Arial"/>
                <a:sym typeface="Arial"/>
              </a:rPr>
              <a:t>Scalable Growth &amp; Expansion:</a:t>
            </a:r>
            <a:r>
              <a:rPr lang="en-GB" sz="1467">
                <a:solidFill>
                  <a:srgbClr val="000000"/>
                </a:solidFill>
                <a:latin typeface="Arial"/>
                <a:ea typeface="Arial"/>
                <a:cs typeface="Arial"/>
                <a:sym typeface="Arial"/>
              </a:rPr>
              <a:t> Transition from pilot partnerships to broader regional distribution, leveraging user testimonials and continuous platform feature enhancements.</a:t>
            </a:r>
            <a:endParaRPr sz="1467">
              <a:solidFill>
                <a:srgbClr val="000000"/>
              </a:solidFill>
              <a:latin typeface="Arial"/>
              <a:ea typeface="Arial"/>
              <a:cs typeface="Arial"/>
              <a:sym typeface="Arial"/>
            </a:endParaRPr>
          </a:p>
          <a:p>
            <a:pPr marL="0" indent="0">
              <a:spcBef>
                <a:spcPts val="1600"/>
              </a:spcBef>
              <a:spcAft>
                <a:spcPts val="2133"/>
              </a:spcAft>
              <a:buNone/>
            </a:pPr>
            <a:endParaRPr sz="1467" b="1">
              <a:solidFill>
                <a:srgbClr val="000000"/>
              </a:solidFill>
              <a:latin typeface="Arial"/>
              <a:ea typeface="Arial"/>
              <a:cs typeface="Arial"/>
              <a:sym typeface="Arial"/>
            </a:endParaRPr>
          </a:p>
        </p:txBody>
      </p:sp>
    </p:spTree>
    <p:extLst>
      <p:ext uri="{BB962C8B-B14F-4D97-AF65-F5344CB8AC3E}">
        <p14:creationId xmlns:p14="http://schemas.microsoft.com/office/powerpoint/2010/main" val="3478885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6"/>
          <p:cNvSpPr txBox="1">
            <a:spLocks noGrp="1"/>
          </p:cNvSpPr>
          <p:nvPr>
            <p:ph type="title"/>
          </p:nvPr>
        </p:nvSpPr>
        <p:spPr>
          <a:xfrm>
            <a:off x="972600" y="1763267"/>
            <a:ext cx="9346800" cy="467600"/>
          </a:xfrm>
          <a:prstGeom prst="rect">
            <a:avLst/>
          </a:prstGeom>
        </p:spPr>
        <p:txBody>
          <a:bodyPr spcFirstLastPara="1" vert="horz" wrap="square" lIns="121900" tIns="121900" rIns="121900" bIns="121900" rtlCol="0" anchor="t" anchorCtr="0">
            <a:noAutofit/>
          </a:bodyPr>
          <a:lstStyle/>
          <a:p>
            <a:r>
              <a:rPr lang="en-GB" sz="1600"/>
              <a:t>User Journey Story</a:t>
            </a:r>
            <a:endParaRPr sz="1600"/>
          </a:p>
        </p:txBody>
      </p:sp>
      <p:sp>
        <p:nvSpPr>
          <p:cNvPr id="264" name="Google Shape;264;p26"/>
          <p:cNvSpPr txBox="1">
            <a:spLocks noGrp="1"/>
          </p:cNvSpPr>
          <p:nvPr>
            <p:ph type="body" idx="4294967295"/>
          </p:nvPr>
        </p:nvSpPr>
        <p:spPr>
          <a:xfrm>
            <a:off x="972600" y="2332467"/>
            <a:ext cx="9346800" cy="3504400"/>
          </a:xfrm>
          <a:prstGeom prst="rect">
            <a:avLst/>
          </a:prstGeom>
        </p:spPr>
        <p:txBody>
          <a:bodyPr spcFirstLastPara="1" vert="horz" wrap="square" lIns="121900" tIns="121900" rIns="121900" bIns="121900" rtlCol="0" anchor="t" anchorCtr="0">
            <a:noAutofit/>
          </a:bodyPr>
          <a:lstStyle/>
          <a:p>
            <a:pPr marL="0" indent="0">
              <a:spcBef>
                <a:spcPts val="0"/>
              </a:spcBef>
              <a:spcAft>
                <a:spcPts val="2133"/>
              </a:spcAft>
              <a:buNone/>
            </a:pPr>
            <a:r>
              <a:rPr lang="en-GB" sz="2267">
                <a:solidFill>
                  <a:srgbClr val="FFFFFF"/>
                </a:solidFill>
              </a:rPr>
              <a:t>An administrator logs into the centralized EduTrack Analytics Hub dashboard at the start of the term to review institutional performance metrics. Instead of checking multiple legacy files, they immediately view unified student tracking data and automated analytics highlighting early-warning indicators. Using these live dashboard insights, the administrator promptly identifies departments requiring support and schedules targeted academic interventions. The workflow concludes with reduced administrative reporting overhead, allowing leadership to make data-driven decisions that enhance overall student success.</a:t>
            </a:r>
            <a:endParaRPr sz="2267">
              <a:solidFill>
                <a:srgbClr val="FFFFFF"/>
              </a:solidFill>
            </a:endParaRPr>
          </a:p>
        </p:txBody>
      </p:sp>
    </p:spTree>
    <p:extLst>
      <p:ext uri="{BB962C8B-B14F-4D97-AF65-F5344CB8AC3E}">
        <p14:creationId xmlns:p14="http://schemas.microsoft.com/office/powerpoint/2010/main" val="3901175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25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268"/>
        <p:cNvGrpSpPr/>
        <p:nvPr/>
      </p:nvGrpSpPr>
      <p:grpSpPr>
        <a:xfrm>
          <a:off x="0" y="0"/>
          <a:ext cx="0" cy="0"/>
          <a:chOff x="0" y="0"/>
          <a:chExt cx="0" cy="0"/>
        </a:xfrm>
      </p:grpSpPr>
      <p:sp>
        <p:nvSpPr>
          <p:cNvPr id="269" name="Google Shape;269;p27"/>
          <p:cNvSpPr txBox="1">
            <a:spLocks noGrp="1"/>
          </p:cNvSpPr>
          <p:nvPr>
            <p:ph type="ctrTitle"/>
          </p:nvPr>
        </p:nvSpPr>
        <p:spPr>
          <a:xfrm>
            <a:off x="0" y="852432"/>
            <a:ext cx="11145200" cy="2219600"/>
          </a:xfrm>
          <a:prstGeom prst="rect">
            <a:avLst/>
          </a:prstGeom>
        </p:spPr>
        <p:txBody>
          <a:bodyPr spcFirstLastPara="1" vert="horz" wrap="square" lIns="121900" tIns="121900" rIns="121900" bIns="121900" rtlCol="0" anchor="t" anchorCtr="0">
            <a:noAutofit/>
          </a:bodyPr>
          <a:lstStyle/>
          <a:p>
            <a:pPr algn="l">
              <a:spcBef>
                <a:spcPts val="0"/>
              </a:spcBef>
            </a:pPr>
            <a:r>
              <a:rPr lang="en-GB" sz="3200" b="1" dirty="0">
                <a:latin typeface="Britannic Bold" panose="020B0903060703020204" pitchFamily="34" charset="77"/>
              </a:rPr>
              <a:t>Project Resources &amp; Repository</a:t>
            </a:r>
            <a:br>
              <a:rPr lang="en-GB" sz="3200" b="1" dirty="0"/>
            </a:br>
            <a:br>
              <a:rPr lang="en-GB" sz="3200" b="1" dirty="0"/>
            </a:br>
            <a:br>
              <a:rPr lang="en-GB" sz="3200" b="1" dirty="0"/>
            </a:br>
            <a:endParaRPr sz="3200" b="1" dirty="0"/>
          </a:p>
        </p:txBody>
      </p:sp>
      <p:sp>
        <p:nvSpPr>
          <p:cNvPr id="270" name="Google Shape;270;p27"/>
          <p:cNvSpPr txBox="1">
            <a:spLocks noGrp="1"/>
          </p:cNvSpPr>
          <p:nvPr>
            <p:ph type="subTitle" idx="1"/>
          </p:nvPr>
        </p:nvSpPr>
        <p:spPr>
          <a:xfrm>
            <a:off x="78436" y="2907600"/>
            <a:ext cx="10250800" cy="721600"/>
          </a:xfrm>
          <a:prstGeom prst="rect">
            <a:avLst/>
          </a:prstGeom>
        </p:spPr>
        <p:txBody>
          <a:bodyPr spcFirstLastPara="1" vert="horz" wrap="square" lIns="121900" tIns="121900" rIns="121900" bIns="121900" rtlCol="0" anchor="t" anchorCtr="0">
            <a:noAutofit/>
          </a:bodyPr>
          <a:lstStyle/>
          <a:p>
            <a:pPr algn="l">
              <a:spcBef>
                <a:spcPts val="0"/>
              </a:spcBef>
            </a:pPr>
            <a:r>
              <a:rPr lang="en-GB" dirty="0"/>
              <a:t>GitHub Repository: </a:t>
            </a:r>
            <a:r>
              <a:rPr lang="en-GB" u="sng" dirty="0">
                <a:solidFill>
                  <a:schemeClr val="hlink"/>
                </a:solidFill>
                <a:hlinkClick r:id="rId3"/>
              </a:rPr>
              <a:t>https://github.com/Tshepo-Letsoalo/edutrack-analytics-hub</a:t>
            </a:r>
            <a:endParaRPr dirty="0"/>
          </a:p>
          <a:p>
            <a:pPr algn="l">
              <a:spcBef>
                <a:spcPts val="0"/>
              </a:spcBef>
            </a:pPr>
            <a:endParaRPr dirty="0"/>
          </a:p>
          <a:p>
            <a:pPr algn="l">
              <a:spcBef>
                <a:spcPts val="0"/>
              </a:spcBef>
            </a:pPr>
            <a:endParaRPr dirty="0"/>
          </a:p>
        </p:txBody>
      </p:sp>
    </p:spTree>
    <p:extLst>
      <p:ext uri="{BB962C8B-B14F-4D97-AF65-F5344CB8AC3E}">
        <p14:creationId xmlns:p14="http://schemas.microsoft.com/office/powerpoint/2010/main" val="3678922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8"/>
          <p:cNvSpPr txBox="1">
            <a:spLocks noGrp="1"/>
          </p:cNvSpPr>
          <p:nvPr>
            <p:ph type="ctrTitle"/>
          </p:nvPr>
        </p:nvSpPr>
        <p:spPr>
          <a:xfrm>
            <a:off x="972600" y="1763267"/>
            <a:ext cx="10250800" cy="2219600"/>
          </a:xfrm>
          <a:prstGeom prst="rect">
            <a:avLst/>
          </a:prstGeom>
        </p:spPr>
        <p:txBody>
          <a:bodyPr spcFirstLastPara="1" vert="horz" wrap="square" lIns="121900" tIns="121900" rIns="121900" bIns="121900" rtlCol="0" anchor="t" anchorCtr="0">
            <a:noAutofit/>
          </a:bodyPr>
          <a:lstStyle/>
          <a:p>
            <a:r>
              <a:rPr lang="en-GB" sz="6400">
                <a:solidFill>
                  <a:srgbClr val="000000"/>
                </a:solidFill>
              </a:rPr>
              <a:t>Thank you.</a:t>
            </a:r>
            <a:endParaRPr/>
          </a:p>
        </p:txBody>
      </p:sp>
    </p:spTree>
    <p:extLst>
      <p:ext uri="{BB962C8B-B14F-4D97-AF65-F5344CB8AC3E}">
        <p14:creationId xmlns:p14="http://schemas.microsoft.com/office/powerpoint/2010/main" val="1381168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298</TotalTime>
  <Words>3136</Words>
  <Application>Microsoft Macintosh PowerPoint</Application>
  <PresentationFormat>Widescreen</PresentationFormat>
  <Paragraphs>173</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Britannic Bold</vt:lpstr>
      <vt:lpstr>Calibri</vt:lpstr>
      <vt:lpstr>Calibri Light</vt:lpstr>
      <vt:lpstr>Wingdings</vt:lpstr>
      <vt:lpstr>Office Theme</vt:lpstr>
      <vt:lpstr>EduTrack Analytics Hub</vt:lpstr>
      <vt:lpstr>Table of Contents</vt:lpstr>
      <vt:lpstr>Overview</vt:lpstr>
      <vt:lpstr>EduTrack Analytics Hub-Pitch Summary</vt:lpstr>
      <vt:lpstr>Problem Statement</vt:lpstr>
      <vt:lpstr>Solutions</vt:lpstr>
      <vt:lpstr>Technology Readiness Level (TRL) 3</vt:lpstr>
      <vt:lpstr>Technological Architecture</vt:lpstr>
      <vt:lpstr>Go-to-Market Strategy</vt:lpstr>
      <vt:lpstr>User Journey Story</vt:lpstr>
      <vt:lpstr>Project Resources &amp; Repository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EduTrack Analytics Hub</dc:title>
  <dc:creator>Tshepo Letsoalo</dc:creator>
  <cp:lastModifiedBy>Tshepo Letsoalo</cp:lastModifiedBy>
  <cp:revision>16</cp:revision>
  <dcterms:created xsi:type="dcterms:W3CDTF">2026-07-27T06:19:52Z</dcterms:created>
  <dcterms:modified xsi:type="dcterms:W3CDTF">2026-07-31T09:01:44Z</dcterms:modified>
</cp:coreProperties>
</file>